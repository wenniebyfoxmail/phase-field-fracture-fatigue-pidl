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498"/>
    <p:restoredTop sz="95362"/>
  </p:normalViewPr>
  <p:slideViewPr>
    <p:cSldViewPr snapToGrid="0">
      <p:cViewPr>
        <p:scale>
          <a:sx n="33" d="100"/>
          <a:sy n="33" d="100"/>
        </p:scale>
        <p:origin x="1056" y="20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AAF383-4E02-4F92-8F26-EDD34A84D2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258B578-14A6-41AB-B21C-6E3EA31997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E714C6-821C-46BA-8221-23FE4E36FBF2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6/15/26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B25325-4CC8-4F35-9E7A-6AF12855B582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209D0C-4A64-4FA5-AEFC-6EC3C9AA7DE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9A9414-59A2-4098-9CBE-7226585B6D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562D39-10B5-40BE-BB78-11D37D740D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86EC5E-7196-47EC-ACF8-FE3012212770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6/15/26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35A6B0-D44C-445D-8855-D9E3101A7E5D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DBF323-263E-454C-87DF-63A001B9F4D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E878ED-31E4-4373-A691-BD86E777BD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buNone/>
              <a:defRPr sz="4000" b="1" cap="all"/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9F6CB1-4F6E-4E34-A2E3-3AE8DF1086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CEFE16-B100-4496-822B-1FD2563F3638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6/15/26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BC380A-6BBA-448D-A991-13852AB1DCB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FF50A0-35E1-416A-BCCF-634698F3803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CB32B3-8716-4FC0-9C80-25607ABEE6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D9EB26-19BD-4F94-A4C1-98BF6B88CE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DD4223-ED44-43D8-8C20-12FF9B4EF765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DB1FD7-A79A-4D13-B1FA-4E963F2CF634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6/15/26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F10376-6F2A-4061-AEEE-AF90A85CFC86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DAA9DA-970A-4BA5-9EC6-C636552CE20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1B6525-7758-4AFE-9135-C155A8B1DF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446026-A212-4522-AC56-51F1452919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88AC8C8-597B-48AE-AA8E-710D7E8F2D37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25319C1-788A-4604-8306-DCBB1C1C2807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0FCE816-019F-464B-A7DF-B049F7D6AEFC}"/>
              </a:ext>
            </a:extLst>
          </p:cNvPr>
          <p:cNvSpPr>
            <a:spLocks noGrp="1"/>
          </p:cNvSpPr>
          <p:nvPr>
            <p:ph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261D1CD-9CE1-4509-ACC7-5A698434BE94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6/15/26</a:t>
            </a:fld>
            <a:endParaRPr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46409C2-A518-4C73-94E2-6FD7577588B7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73E534E-9B01-4FEB-889E-B399470250C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8AA7EA-C29E-46AE-B148-4EF0E8FE18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644E2AD-3F9D-49A4-B4F7-5C448C5E6999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6/15/26</a:t>
            </a:fld>
            <a:endParaRPr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3A72360-A00B-4EE4-A777-CEDA5B0BE20D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866556D-FE27-43EA-838F-9B273DAC46A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B7831F1-AD72-4866-A83F-544F3D9FD2A8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6/15/26</a:t>
            </a:fld>
            <a:endParaRPr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4F09EEA-AB42-4917-AE1B-9D6710A511D3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1F7398-50D0-4F11-807A-8922F9EECB7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DF04C5-C7AC-4B4C-85A5-47CA8B86B1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321C14-6D62-4C72-8529-4897C360D2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5F3A10-7B74-4F1A-9E12-9922142F1B7F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04B9AD-BFA3-485B-BCC1-E10F30497CBE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6/15/26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7BF0B6-72B6-4D5D-874D-15CE0B680DB9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1FB677-9BE8-4617-9D51-97343BBFFED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0C24C7-69DE-4F73-9767-AB195BADEA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AA6E57A-1413-4C6E-8013-7540A48A8F6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C81BAC0-271A-4957-8FAD-1D54BCA92CBF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2D41EB-01F9-4AEE-ACAF-5F8CB9554CDF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6/15/26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F95E86-5D70-45B0-AC2A-28678D4BD3F0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A17FF8-33BA-4207-8B4C-B2682D12B2C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1B9301-3136-4849-B1BD-80F6877650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81B2BF5-869F-42A9-AE82-A9A0E6F16E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eaVert"/>
          <a:lstStyle/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158AED-CBFC-4F29-AC13-1EB70B63C799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6/15/26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9D30F6-1D3A-43F4-8D5B-87650810871D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64CAC4-4703-4516-83FA-63A9B0B14AC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BD34199-602F-42A6-A279-5D8C1D7E94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2342F7-55F6-4C4E-87A8-864123B12F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0A28ED-310C-41DE-93FE-7BFB1086E123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6/15/26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4C79AD-44CB-4CE0-82AE-1BF1CC983926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D036A7-D0D4-494D-A7F5-6EC246949A5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3812992-2F22-42CB-990E-9431489DBE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291D6D-9011-4D5E-8D98-9EACDFB972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F8FE3B-ABB6-4113-9116-B1E8EADDFAED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t>6/15/26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6ABF63-4820-45B3-811E-8DCC956EA28E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9AAAE3-1C84-4DD2-8FEE-362D5F2BEAEF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342900" indent="-342900" algn="l">
        <a:spcBef>
          <a:spcPts val="0"/>
        </a:spcBef>
        <a:buChar char="•"/>
        <a:defRPr sz="3200">
          <a:solidFill>
            <a:schemeClr val="tx1"/>
          </a:solidFill>
          <a:latin typeface="+mn-lt"/>
          <a:ea typeface="+mn-lt"/>
          <a:cs typeface="+mn-lt"/>
        </a:defRPr>
      </a:lvl1pPr>
      <a:lvl2pPr marL="742950" indent="-285750" algn="l">
        <a:spcBef>
          <a:spcPts val="0"/>
        </a:spcBef>
        <a:buChar char="–"/>
        <a:defRPr sz="28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spcBef>
          <a:spcPts val="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spcBef>
          <a:spcPts val="0"/>
        </a:spcBef>
        <a:buChar char="–"/>
        <a:defRPr sz="20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spcBef>
          <a:spcPts val="0"/>
        </a:spcBef>
        <a:buChar char="»"/>
        <a:defRPr sz="20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46D1BA6-B026-4258-A0FC-DFA87641BB0B}"/>
              </a:ext>
            </a:extLst>
          </p:cNvPr>
          <p:cNvSpPr>
            <a:spLocks noGrp="1"/>
          </p:cNvSpPr>
          <p:nvPr/>
        </p:nvSpPr>
        <p:spPr>
          <a:xfrm>
            <a:off x="685800" y="1234440"/>
            <a:ext cx="10241280" cy="109728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>
              <a:buNone/>
            </a:pPr>
            <a:r>
              <a:rPr sz="3200" b="1">
                <a:solidFill>
                  <a:srgbClr val="12304A"/>
                </a:solidFill>
                <a:latin typeface="Arial"/>
                <a:ea typeface="Arial"/>
                <a:cs typeface="Arial"/>
              </a:rPr>
              <a:t>Physics-Informed Road Digital Twins</a:t>
            </a:r>
            <a:br/>
            <a:r>
              <a:rPr sz="3200" b="1">
                <a:solidFill>
                  <a:srgbClr val="12304A"/>
                </a:solidFill>
                <a:latin typeface="Arial"/>
                <a:ea typeface="Arial"/>
                <a:cs typeface="Arial"/>
              </a:rPr>
              <a:t>for Pavement Maintenance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CC11830-A09E-48C7-93EA-E6E0898506C0}"/>
              </a:ext>
            </a:extLst>
          </p:cNvPr>
          <p:cNvSpPr>
            <a:spLocks noGrp="1"/>
          </p:cNvSpPr>
          <p:nvPr/>
        </p:nvSpPr>
        <p:spPr>
          <a:xfrm>
            <a:off x="713232" y="2514600"/>
            <a:ext cx="8686800" cy="64008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>
              <a:buNone/>
            </a:pPr>
            <a:r>
              <a:rPr sz="1800" b="0" dirty="0">
                <a:solidFill>
                  <a:srgbClr val="3A434D"/>
                </a:solidFill>
                <a:latin typeface="Arial"/>
                <a:ea typeface="Arial"/>
                <a:cs typeface="Arial"/>
              </a:rPr>
              <a:t>A closed-loop framework and fracture learning taxonomy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A481F1F-6B33-4D56-9429-AC7839085480}"/>
              </a:ext>
            </a:extLst>
          </p:cNvPr>
          <p:cNvSpPr>
            <a:spLocks noGrp="1"/>
          </p:cNvSpPr>
          <p:nvPr/>
        </p:nvSpPr>
        <p:spPr>
          <a:xfrm>
            <a:off x="713232" y="4480560"/>
            <a:ext cx="7315200" cy="41148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>
              <a:buNone/>
            </a:pPr>
            <a:r>
              <a:rPr sz="1200" b="0">
                <a:solidFill>
                  <a:srgbClr val="3A434D"/>
                </a:solidFill>
                <a:latin typeface="Arial"/>
                <a:ea typeface="Arial"/>
                <a:cs typeface="Arial"/>
              </a:rPr>
              <a:t>Xiaofang Wen, Yinglin Wang, Soheila Kookalani, Brian Sheil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3793511-F283-49A5-9EBF-32C214C59568}"/>
              </a:ext>
            </a:extLst>
          </p:cNvPr>
          <p:cNvSpPr>
            <a:spLocks noGrp="1"/>
          </p:cNvSpPr>
          <p:nvPr/>
        </p:nvSpPr>
        <p:spPr>
          <a:xfrm>
            <a:off x="713232" y="4864608"/>
            <a:ext cx="5943600" cy="32004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>
              <a:buNone/>
            </a:pPr>
            <a:r>
              <a:rPr sz="1050" b="0">
                <a:solidFill>
                  <a:srgbClr val="7C8894"/>
                </a:solidFill>
                <a:latin typeface="Arial"/>
                <a:ea typeface="Arial"/>
                <a:cs typeface="Arial"/>
              </a:rPr>
              <a:t>University of Cambridge / Zhejiang University</a:t>
            </a:r>
          </a:p>
        </p:txBody>
      </p:sp>
      <p:pic>
        <p:nvPicPr>
          <p:cNvPr id="35" name="Picture 6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84668" y="6361626"/>
            <a:ext cx="2657684" cy="461514"/>
          </a:xfrm>
          <a:prstGeom prst="rect">
            <a:avLst/>
          </a:prstGeom>
        </p:spPr>
      </p:pic>
      <p:pic>
        <p:nvPicPr>
          <p:cNvPr id="36" name="Picture 8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2935912" y="6359451"/>
            <a:ext cx="2495403" cy="455137"/>
          </a:xfrm>
          <a:prstGeom prst="rect">
            <a:avLst/>
          </a:prstGeom>
        </p:spPr>
      </p:pic>
      <p:pic>
        <p:nvPicPr>
          <p:cNvPr id="37" name="Picture 10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5641906" y="6359451"/>
            <a:ext cx="908188" cy="435330"/>
          </a:xfrm>
          <a:prstGeom prst="rect">
            <a:avLst/>
          </a:prstGeom>
        </p:spPr>
      </p:pic>
      <p:pic>
        <p:nvPicPr>
          <p:cNvPr id="38" name="Picture 12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8206975" y="6373223"/>
            <a:ext cx="1410750" cy="404033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B79C573-F6C1-5233-1728-E0376607DD3C}"/>
              </a:ext>
            </a:extLst>
          </p:cNvPr>
          <p:cNvSpPr>
            <a:spLocks noGrp="1"/>
          </p:cNvSpPr>
          <p:nvPr/>
        </p:nvSpPr>
        <p:spPr>
          <a:xfrm>
            <a:off x="6851039" y="6359451"/>
            <a:ext cx="126839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25397E"/>
                </a:solidFill>
              </a:rPr>
              <a:t>i3CE 2026</a:t>
            </a:r>
          </a:p>
        </p:txBody>
      </p:sp>
      <p:sp>
        <p:nvSpPr>
          <p:cNvPr id="21" name="visual-enhancement-mask">
            <a:extLst>
              <a:ext uri="{FF2B5EF4-FFF2-40B4-BE49-F238E27FC236}">
                <a16:creationId xmlns:a16="http://schemas.microsoft.com/office/drawing/2014/main" id="{77ABB2D5-33C3-4FFB-8C3E-46F16AFF4B6F}"/>
              </a:ext>
            </a:extLst>
          </p:cNvPr>
          <p:cNvSpPr>
            <a:spLocks noGrp="1"/>
          </p:cNvSpPr>
          <p:nvPr/>
        </p:nvSpPr>
        <p:spPr>
          <a:xfrm>
            <a:off x="0" y="6229350"/>
            <a:ext cx="12192000" cy="62865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visual-enhancement-cover-pill">
            <a:extLst>
              <a:ext uri="{FF2B5EF4-FFF2-40B4-BE49-F238E27FC236}">
                <a16:creationId xmlns:a16="http://schemas.microsoft.com/office/drawing/2014/main" id="{74A0A12D-D790-4AFA-8E40-49FC1B2E9E9D}"/>
              </a:ext>
            </a:extLst>
          </p:cNvPr>
          <p:cNvSpPr>
            <a:spLocks noGrp="1"/>
          </p:cNvSpPr>
          <p:nvPr/>
        </p:nvSpPr>
        <p:spPr>
          <a:xfrm>
            <a:off x="685800" y="638175"/>
            <a:ext cx="1924050" cy="304800"/>
          </a:xfrm>
          <a:prstGeom prst="roundRect">
            <a:avLst>
              <a:gd name="adj" fmla="val 25000"/>
            </a:avLst>
          </a:prstGeom>
          <a:solidFill>
            <a:srgbClr val="EAF3FB"/>
          </a:solidFill>
          <a:ln w="9525">
            <a:solidFill>
              <a:srgbClr val="D0D7DE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pPr algn="ctr">
              <a:defRPr sz="975" b="1">
                <a:solidFill>
                  <a:srgbClr val="12324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2324A"/>
                </a:solidFill>
                <a:latin typeface="Aptos"/>
                <a:ea typeface="Aptos"/>
                <a:cs typeface="Aptos"/>
              </a:rPr>
              <a:t>10-minute pre | I3CE</a:t>
            </a:r>
          </a:p>
        </p:txBody>
      </p:sp>
      <p:sp>
        <p:nvSpPr>
          <p:cNvPr id="23" name="visual-enhancement-pavement-top-layer">
            <a:extLst>
              <a:ext uri="{FF2B5EF4-FFF2-40B4-BE49-F238E27FC236}">
                <a16:creationId xmlns:a16="http://schemas.microsoft.com/office/drawing/2014/main" id="{31A2279E-6B36-4AA2-9546-3CDF1C7A0F49}"/>
              </a:ext>
            </a:extLst>
          </p:cNvPr>
          <p:cNvSpPr>
            <a:spLocks noGrp="1"/>
          </p:cNvSpPr>
          <p:nvPr/>
        </p:nvSpPr>
        <p:spPr>
          <a:xfrm>
            <a:off x="7639050" y="3695700"/>
            <a:ext cx="3886200" cy="495300"/>
          </a:xfrm>
          <a:prstGeom prst="rect">
            <a:avLst/>
          </a:prstGeom>
          <a:solidFill>
            <a:srgbClr val="EEF3F8"/>
          </a:solidFill>
          <a:ln w="11430">
            <a:solidFill>
              <a:srgbClr val="7A8793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24" name="visual-enhancement-pavement-bottom-layer">
            <a:extLst>
              <a:ext uri="{FF2B5EF4-FFF2-40B4-BE49-F238E27FC236}">
                <a16:creationId xmlns:a16="http://schemas.microsoft.com/office/drawing/2014/main" id="{D1A81C0C-9316-4851-8D5D-B1D6AD12D240}"/>
              </a:ext>
            </a:extLst>
          </p:cNvPr>
          <p:cNvSpPr>
            <a:spLocks noGrp="1"/>
          </p:cNvSpPr>
          <p:nvPr/>
        </p:nvSpPr>
        <p:spPr>
          <a:xfrm>
            <a:off x="7639050" y="4191000"/>
            <a:ext cx="3886200" cy="742950"/>
          </a:xfrm>
          <a:prstGeom prst="rect">
            <a:avLst/>
          </a:prstGeom>
          <a:solidFill>
            <a:srgbClr val="E7E1D8"/>
          </a:solidFill>
          <a:ln w="11430">
            <a:solidFill>
              <a:srgbClr val="7A8793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25" name="visual-enhancement-line">
            <a:extLst>
              <a:ext uri="{FF2B5EF4-FFF2-40B4-BE49-F238E27FC236}">
                <a16:creationId xmlns:a16="http://schemas.microsoft.com/office/drawing/2014/main" id="{001D5042-9B7B-495D-AF45-C09FC5732EF5}"/>
              </a:ext>
            </a:extLst>
          </p:cNvPr>
          <p:cNvSpPr>
            <a:spLocks noGrp="1"/>
          </p:cNvSpPr>
          <p:nvPr/>
        </p:nvSpPr>
        <p:spPr>
          <a:xfrm>
            <a:off x="9410700" y="3695700"/>
            <a:ext cx="0" cy="285750"/>
          </a:xfrm>
          <a:prstGeom prst="line">
            <a:avLst/>
          </a:prstGeom>
          <a:noFill/>
          <a:ln w="28575">
            <a:solidFill>
              <a:srgbClr val="B84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visual-enhancement-line">
            <a:extLst>
              <a:ext uri="{FF2B5EF4-FFF2-40B4-BE49-F238E27FC236}">
                <a16:creationId xmlns:a16="http://schemas.microsoft.com/office/drawing/2014/main" id="{4991640A-AAA0-47FB-9D30-96971695E7F1}"/>
              </a:ext>
            </a:extLst>
          </p:cNvPr>
          <p:cNvSpPr>
            <a:spLocks noGrp="1"/>
          </p:cNvSpPr>
          <p:nvPr/>
        </p:nvSpPr>
        <p:spPr>
          <a:xfrm>
            <a:off x="9277350" y="3981450"/>
            <a:ext cx="171450" cy="276225"/>
          </a:xfrm>
          <a:prstGeom prst="line">
            <a:avLst/>
          </a:prstGeom>
          <a:noFill/>
          <a:ln w="28575">
            <a:solidFill>
              <a:srgbClr val="B84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visual-enhancement-line">
            <a:extLst>
              <a:ext uri="{FF2B5EF4-FFF2-40B4-BE49-F238E27FC236}">
                <a16:creationId xmlns:a16="http://schemas.microsoft.com/office/drawing/2014/main" id="{6A474A24-0910-448D-BE91-A0B66AAA52D9}"/>
              </a:ext>
            </a:extLst>
          </p:cNvPr>
          <p:cNvSpPr>
            <a:spLocks noGrp="1"/>
          </p:cNvSpPr>
          <p:nvPr/>
        </p:nvSpPr>
        <p:spPr>
          <a:xfrm>
            <a:off x="9448800" y="4257675"/>
            <a:ext cx="0" cy="314325"/>
          </a:xfrm>
          <a:prstGeom prst="line">
            <a:avLst/>
          </a:prstGeom>
          <a:noFill/>
          <a:ln w="28575">
            <a:solidFill>
              <a:srgbClr val="B84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visual-enhancement-line">
            <a:extLst>
              <a:ext uri="{FF2B5EF4-FFF2-40B4-BE49-F238E27FC236}">
                <a16:creationId xmlns:a16="http://schemas.microsoft.com/office/drawing/2014/main" id="{BCC9CC95-EE1A-49F3-A8AF-5C86C9A3FC15}"/>
              </a:ext>
            </a:extLst>
          </p:cNvPr>
          <p:cNvSpPr>
            <a:spLocks noGrp="1"/>
          </p:cNvSpPr>
          <p:nvPr/>
        </p:nvSpPr>
        <p:spPr>
          <a:xfrm>
            <a:off x="9315450" y="4572000"/>
            <a:ext cx="219075" cy="323850"/>
          </a:xfrm>
          <a:prstGeom prst="line">
            <a:avLst/>
          </a:prstGeom>
          <a:noFill/>
          <a:ln w="28575">
            <a:solidFill>
              <a:srgbClr val="B84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visual-enhancement-text">
            <a:extLst>
              <a:ext uri="{FF2B5EF4-FFF2-40B4-BE49-F238E27FC236}">
                <a16:creationId xmlns:a16="http://schemas.microsoft.com/office/drawing/2014/main" id="{C277481D-83F0-45B9-940C-D1BB544ABDAE}"/>
              </a:ext>
            </a:extLst>
          </p:cNvPr>
          <p:cNvSpPr>
            <a:spLocks noGrp="1"/>
          </p:cNvSpPr>
          <p:nvPr/>
        </p:nvSpPr>
        <p:spPr>
          <a:xfrm>
            <a:off x="7524750" y="5219700"/>
            <a:ext cx="41148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Surface observations → hidden fracture state</a:t>
            </a:r>
          </a:p>
        </p:txBody>
      </p:sp>
      <p:pic>
        <p:nvPicPr>
          <p:cNvPr id="49" name="Picture 48"/>
          <p:cNvPicPr>
            <a:picLocks noChangeAspect="1"/>
          </p:cNvPicPr>
          <p:nvPr/>
        </p:nvPicPr>
        <p:blipFill>
          <a:blip r:embed="rId7"/>
          <a:stretch/>
        </p:blipFill>
        <p:spPr>
          <a:xfrm>
            <a:off x="7553325" y="523875"/>
            <a:ext cx="3695700" cy="419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88567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ECE35C0-906D-4C67-B0B2-1374281165B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2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2A0AF72-58FC-4947-AB3B-0AEC48F69AC0}"/>
              </a:ext>
            </a:extLst>
          </p:cNvPr>
          <p:cNvSpPr>
            <a:spLocks noGrp="1"/>
          </p:cNvSpPr>
          <p:nvPr/>
        </p:nvSpPr>
        <p:spPr>
          <a:xfrm>
            <a:off x="502920" y="310896"/>
            <a:ext cx="10698480" cy="41148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>
              <a:buNone/>
            </a:pPr>
            <a:r>
              <a:rPr sz="2400" b="1">
                <a:solidFill>
                  <a:srgbClr val="12304A"/>
                </a:solidFill>
                <a:latin typeface="Arial"/>
                <a:ea typeface="Arial"/>
                <a:cs typeface="Arial"/>
              </a:rPr>
              <a:t>1. Motivation: the observability gap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6CBBE30-89BC-48FA-A51F-0ABA8ABAAB89}"/>
              </a:ext>
            </a:extLst>
          </p:cNvPr>
          <p:cNvSpPr>
            <a:spLocks noGrp="1"/>
          </p:cNvSpPr>
          <p:nvPr/>
        </p:nvSpPr>
        <p:spPr>
          <a:xfrm>
            <a:off x="530352" y="749808"/>
            <a:ext cx="10607040" cy="32004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>
              <a:buNone/>
            </a:pPr>
            <a:r>
              <a:rPr sz="1200" b="0">
                <a:solidFill>
                  <a:srgbClr val="7C8894"/>
                </a:solidFill>
                <a:latin typeface="Arial"/>
                <a:ea typeface="Arial"/>
                <a:cs typeface="Arial"/>
              </a:rPr>
              <a:t>Routine condition surveys observe symptoms; maintenance needs mechanical states.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93F0516-0113-4DBC-8297-14C82890A49F}"/>
              </a:ext>
            </a:extLst>
          </p:cNvPr>
          <p:cNvSpPr>
            <a:spLocks noGrp="1"/>
          </p:cNvSpPr>
          <p:nvPr/>
        </p:nvSpPr>
        <p:spPr>
          <a:xfrm>
            <a:off x="502920" y="6565392"/>
            <a:ext cx="5486400" cy="164592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>
              <a:buNone/>
            </a:pPr>
            <a:r>
              <a:rPr sz="750" b="0">
                <a:solidFill>
                  <a:srgbClr val="7C8894"/>
                </a:solidFill>
                <a:latin typeface="Arial"/>
                <a:ea typeface="Arial"/>
                <a:cs typeface="Arial"/>
              </a:rPr>
              <a:t>I3CE pre | Paper 454 | 2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76A79BD-629E-4366-966B-1D8E3E5A1802}"/>
              </a:ext>
            </a:extLst>
          </p:cNvPr>
          <p:cNvSpPr>
            <a:spLocks noGrp="1"/>
          </p:cNvSpPr>
          <p:nvPr/>
        </p:nvSpPr>
        <p:spPr>
          <a:xfrm>
            <a:off x="11292840" y="6565392"/>
            <a:ext cx="411480" cy="164592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r">
              <a:buNone/>
            </a:pPr>
            <a:r>
              <a:rPr sz="750" b="0">
                <a:solidFill>
                  <a:srgbClr val="7C8894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7335EAD8-55D3-401E-ACCB-B4039AA135E4}"/>
              </a:ext>
            </a:extLst>
          </p:cNvPr>
          <p:cNvSpPr>
            <a:spLocks noGrp="1"/>
          </p:cNvSpPr>
          <p:nvPr/>
        </p:nvSpPr>
        <p:spPr>
          <a:xfrm>
            <a:off x="777240" y="1325880"/>
            <a:ext cx="4023360" cy="4160520"/>
          </a:xfrm>
          <a:prstGeom prst="roundRect">
            <a:avLst/>
          </a:prstGeom>
          <a:solidFill>
            <a:srgbClr val="E4EFF9"/>
          </a:solidFill>
          <a:ln w="12700">
            <a:solidFill>
              <a:srgbClr val="E4EF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46304" bIns="109728" anchor="ctr"/>
          <a:lstStyle/>
          <a:p>
            <a:pPr algn="ctr">
              <a:buNone/>
            </a:pPr>
            <a:r>
              <a:rPr sz="1500" b="1">
                <a:solidFill>
                  <a:srgbClr val="12304A"/>
                </a:solidFill>
                <a:latin typeface="Arial"/>
                <a:ea typeface="Arial"/>
                <a:cs typeface="Arial"/>
              </a:rPr>
              <a:t>What we usually observe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06C8032-7605-4ADD-A01A-E185CB3058F3}"/>
              </a:ext>
            </a:extLst>
          </p:cNvPr>
          <p:cNvSpPr>
            <a:spLocks noGrp="1"/>
          </p:cNvSpPr>
          <p:nvPr/>
        </p:nvSpPr>
        <p:spPr>
          <a:xfrm>
            <a:off x="1024128" y="1920240"/>
            <a:ext cx="3566160" cy="1645920"/>
          </a:xfrm>
          <a:prstGeom prst="rect">
            <a:avLst/>
          </a:prstGeom>
          <a:noFill/>
        </p:spPr>
        <p:txBody>
          <a:bodyPr wrap="square" lIns="73152" rIns="45720">
            <a:spAutoFit/>
          </a:bodyPr>
          <a:lstStyle/>
          <a:p>
            <a:pPr>
              <a:spcAft>
                <a:spcPts val="400"/>
              </a:spcAft>
              <a:buNone/>
              <a:defRPr sz="1500">
                <a:solidFill>
                  <a:srgbClr val="3A434D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3A434D"/>
                </a:solidFill>
                <a:latin typeface="Arial"/>
                <a:ea typeface="Arial"/>
                <a:cs typeface="Arial"/>
              </a:rPr>
              <a:t>• surface cracking</a:t>
            </a:r>
          </a:p>
          <a:p>
            <a:pPr>
              <a:spcAft>
                <a:spcPts val="400"/>
              </a:spcAft>
              <a:buNone/>
              <a:defRPr sz="1500">
                <a:solidFill>
                  <a:srgbClr val="3A434D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3A434D"/>
                </a:solidFill>
                <a:latin typeface="Arial"/>
                <a:ea typeface="Arial"/>
                <a:cs typeface="Arial"/>
              </a:rPr>
              <a:t>• rutting and roughness</a:t>
            </a:r>
          </a:p>
          <a:p>
            <a:pPr>
              <a:spcAft>
                <a:spcPts val="400"/>
              </a:spcAft>
              <a:buNone/>
              <a:defRPr sz="1500">
                <a:solidFill>
                  <a:srgbClr val="3A434D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3A434D"/>
                </a:solidFill>
                <a:latin typeface="Arial"/>
                <a:ea typeface="Arial"/>
                <a:cs typeface="Arial"/>
              </a:rPr>
              <a:t>• deflection basin</a:t>
            </a:r>
          </a:p>
          <a:p>
            <a:pPr>
              <a:spcAft>
                <a:spcPts val="400"/>
              </a:spcAft>
              <a:buNone/>
              <a:defRPr sz="1500">
                <a:solidFill>
                  <a:srgbClr val="3A434D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3A434D"/>
                </a:solidFill>
                <a:latin typeface="Arial"/>
                <a:ea typeface="Arial"/>
                <a:cs typeface="Arial"/>
              </a:rPr>
              <a:t>• layer interfaces or moisture proxies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BF6DC47C-608C-4F44-81FB-754421026DC1}"/>
              </a:ext>
            </a:extLst>
          </p:cNvPr>
          <p:cNvSpPr>
            <a:spLocks noGrp="1"/>
          </p:cNvSpPr>
          <p:nvPr/>
        </p:nvSpPr>
        <p:spPr>
          <a:xfrm>
            <a:off x="7406640" y="1325880"/>
            <a:ext cx="4023360" cy="4160520"/>
          </a:xfrm>
          <a:prstGeom prst="roundRect">
            <a:avLst/>
          </a:prstGeom>
          <a:solidFill>
            <a:srgbClr val="FDF1DE"/>
          </a:solidFill>
          <a:ln w="12700">
            <a:solidFill>
              <a:srgbClr val="FDF1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46304" bIns="109728" anchor="ctr"/>
          <a:lstStyle/>
          <a:p>
            <a:pPr algn="ctr">
              <a:buNone/>
            </a:pPr>
            <a:r>
              <a:rPr sz="1500" b="1">
                <a:solidFill>
                  <a:srgbClr val="12304A"/>
                </a:solidFill>
                <a:latin typeface="Arial"/>
                <a:ea typeface="Arial"/>
                <a:cs typeface="Arial"/>
              </a:rPr>
              <a:t>What maintenance decisions need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CBFC765-9311-4F6B-8F56-E39B20045983}"/>
              </a:ext>
            </a:extLst>
          </p:cNvPr>
          <p:cNvSpPr>
            <a:spLocks noGrp="1"/>
          </p:cNvSpPr>
          <p:nvPr/>
        </p:nvSpPr>
        <p:spPr>
          <a:xfrm>
            <a:off x="7662672" y="1920240"/>
            <a:ext cx="3474720" cy="1645920"/>
          </a:xfrm>
          <a:prstGeom prst="rect">
            <a:avLst/>
          </a:prstGeom>
          <a:noFill/>
        </p:spPr>
        <p:txBody>
          <a:bodyPr wrap="square" lIns="73152" rIns="45720">
            <a:spAutoFit/>
          </a:bodyPr>
          <a:lstStyle/>
          <a:p>
            <a:pPr>
              <a:spcAft>
                <a:spcPts val="400"/>
              </a:spcAft>
              <a:buNone/>
              <a:defRPr sz="1500">
                <a:solidFill>
                  <a:srgbClr val="3A434D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3A434D"/>
                </a:solidFill>
                <a:latin typeface="Arial"/>
                <a:ea typeface="Arial"/>
                <a:cs typeface="Arial"/>
              </a:rPr>
              <a:t>• damage state</a:t>
            </a:r>
          </a:p>
          <a:p>
            <a:pPr>
              <a:spcAft>
                <a:spcPts val="400"/>
              </a:spcAft>
              <a:buNone/>
              <a:defRPr sz="1500">
                <a:solidFill>
                  <a:srgbClr val="3A434D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3A434D"/>
                </a:solidFill>
                <a:latin typeface="Arial"/>
                <a:ea typeface="Arial"/>
                <a:cs typeface="Arial"/>
              </a:rPr>
              <a:t>• layer stiffness</a:t>
            </a:r>
          </a:p>
          <a:p>
            <a:pPr>
              <a:spcAft>
                <a:spcPts val="400"/>
              </a:spcAft>
              <a:buNone/>
              <a:defRPr sz="1500">
                <a:solidFill>
                  <a:srgbClr val="3A434D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3A434D"/>
                </a:solidFill>
                <a:latin typeface="Arial"/>
                <a:ea typeface="Arial"/>
                <a:cs typeface="Arial"/>
              </a:rPr>
              <a:t>• crack mechanism</a:t>
            </a:r>
          </a:p>
          <a:p>
            <a:pPr>
              <a:spcAft>
                <a:spcPts val="400"/>
              </a:spcAft>
              <a:buNone/>
              <a:defRPr sz="1500">
                <a:solidFill>
                  <a:srgbClr val="3A434D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3A434D"/>
                </a:solidFill>
                <a:latin typeface="Arial"/>
                <a:ea typeface="Arial"/>
                <a:cs typeface="Arial"/>
              </a:rPr>
              <a:t>• remaining useful life and risk</a:t>
            </a:r>
          </a:p>
        </p:txBody>
      </p:sp>
      <p:sp>
        <p:nvSpPr>
          <p:cNvPr id="11" name="Connector 10">
            <a:extLst>
              <a:ext uri="{FF2B5EF4-FFF2-40B4-BE49-F238E27FC236}">
                <a16:creationId xmlns:a16="http://schemas.microsoft.com/office/drawing/2014/main" id="{6E9E9734-B2A9-4E24-9DBC-0D17B91D6E09}"/>
              </a:ext>
            </a:extLst>
          </p:cNvPr>
          <p:cNvSpPr>
            <a:spLocks noGrp="1"/>
          </p:cNvSpPr>
          <p:nvPr/>
        </p:nvSpPr>
        <p:spPr>
          <a:xfrm>
            <a:off x="5010912" y="3246120"/>
            <a:ext cx="2167128" cy="0"/>
          </a:xfrm>
          <a:prstGeom prst="line">
            <a:avLst/>
          </a:prstGeom>
          <a:ln w="38100">
            <a:solidFill>
              <a:srgbClr val="F2A5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333B9A4-EF0A-4E06-A745-309D848E3659}"/>
              </a:ext>
            </a:extLst>
          </p:cNvPr>
          <p:cNvSpPr>
            <a:spLocks noGrp="1"/>
          </p:cNvSpPr>
          <p:nvPr/>
        </p:nvSpPr>
        <p:spPr>
          <a:xfrm>
            <a:off x="5047488" y="2743200"/>
            <a:ext cx="2057400" cy="41148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ctr">
              <a:buNone/>
            </a:pPr>
            <a:r>
              <a:rPr sz="1700" b="1">
                <a:solidFill>
                  <a:srgbClr val="B7504D"/>
                </a:solidFill>
                <a:latin typeface="Arial"/>
                <a:ea typeface="Arial"/>
                <a:cs typeface="Arial"/>
              </a:rPr>
              <a:t>observability</a:t>
            </a:r>
            <a:br/>
            <a:r>
              <a:rPr sz="1700" b="1">
                <a:solidFill>
                  <a:srgbClr val="B7504D"/>
                </a:solidFill>
                <a:latin typeface="Arial"/>
                <a:ea typeface="Arial"/>
                <a:cs typeface="Arial"/>
              </a:rPr>
              <a:t>gap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8FB1BB6-391D-4899-9C27-C8AE3298B16C}"/>
              </a:ext>
            </a:extLst>
          </p:cNvPr>
          <p:cNvSpPr>
            <a:spLocks noGrp="1"/>
          </p:cNvSpPr>
          <p:nvPr/>
        </p:nvSpPr>
        <p:spPr>
          <a:xfrm>
            <a:off x="914400" y="5715000"/>
            <a:ext cx="10424160" cy="41148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ctr">
              <a:buNone/>
            </a:pPr>
            <a:r>
              <a:rPr sz="1600" b="1">
                <a:solidFill>
                  <a:srgbClr val="12304A"/>
                </a:solidFill>
                <a:latin typeface="Arial"/>
                <a:ea typeface="Arial"/>
                <a:cs typeface="Arial"/>
              </a:rPr>
              <a:t>Key point: visible surface distress does not uniquely reveal the internal deterioration mechanism.</a:t>
            </a:r>
          </a:p>
        </p:txBody>
      </p:sp>
      <p:sp>
        <p:nvSpPr>
          <p:cNvPr id="14" name="visual-enhancement-mask">
            <a:extLst>
              <a:ext uri="{FF2B5EF4-FFF2-40B4-BE49-F238E27FC236}">
                <a16:creationId xmlns:a16="http://schemas.microsoft.com/office/drawing/2014/main" id="{968CEA2B-E282-4821-AADB-CDB373D76575}"/>
              </a:ext>
            </a:extLst>
          </p:cNvPr>
          <p:cNvSpPr>
            <a:spLocks noGrp="1"/>
          </p:cNvSpPr>
          <p:nvPr/>
        </p:nvSpPr>
        <p:spPr>
          <a:xfrm>
            <a:off x="457200" y="1162050"/>
            <a:ext cx="11277600" cy="52197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visual-enhancement-panel">
            <a:extLst>
              <a:ext uri="{FF2B5EF4-FFF2-40B4-BE49-F238E27FC236}">
                <a16:creationId xmlns:a16="http://schemas.microsoft.com/office/drawing/2014/main" id="{71C0541C-C035-4438-912C-0DDA3D397865}"/>
              </a:ext>
            </a:extLst>
          </p:cNvPr>
          <p:cNvSpPr>
            <a:spLocks noGrp="1"/>
          </p:cNvSpPr>
          <p:nvPr/>
        </p:nvSpPr>
        <p:spPr>
          <a:xfrm>
            <a:off x="685800" y="1352550"/>
            <a:ext cx="3067050" cy="3857625"/>
          </a:xfrm>
          <a:prstGeom prst="roundRect">
            <a:avLst>
              <a:gd name="adj" fmla="val 4969"/>
            </a:avLst>
          </a:prstGeom>
          <a:solidFill>
            <a:srgbClr val="EAF3FB"/>
          </a:solidFill>
          <a:ln w="11430">
            <a:solidFill>
              <a:srgbClr val="2F75B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16" name="visual-enhancement-text">
            <a:extLst>
              <a:ext uri="{FF2B5EF4-FFF2-40B4-BE49-F238E27FC236}">
                <a16:creationId xmlns:a16="http://schemas.microsoft.com/office/drawing/2014/main" id="{3D73B281-4B53-432C-87BB-B5AF8C2EAB82}"/>
              </a:ext>
            </a:extLst>
          </p:cNvPr>
          <p:cNvSpPr>
            <a:spLocks noGrp="1"/>
          </p:cNvSpPr>
          <p:nvPr/>
        </p:nvSpPr>
        <p:spPr>
          <a:xfrm>
            <a:off x="952500" y="1657350"/>
            <a:ext cx="25527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12324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2324A"/>
                </a:solidFill>
                <a:latin typeface="Aptos"/>
                <a:ea typeface="Aptos"/>
                <a:cs typeface="Aptos"/>
              </a:rPr>
              <a:t>Routine surveys observe symptoms</a:t>
            </a:r>
          </a:p>
        </p:txBody>
      </p:sp>
      <p:sp>
        <p:nvSpPr>
          <p:cNvPr id="17" name="visual-enhancement-text">
            <a:extLst>
              <a:ext uri="{FF2B5EF4-FFF2-40B4-BE49-F238E27FC236}">
                <a16:creationId xmlns:a16="http://schemas.microsoft.com/office/drawing/2014/main" id="{D37409DF-D8E4-4B7C-9B22-0A6D839544BC}"/>
              </a:ext>
            </a:extLst>
          </p:cNvPr>
          <p:cNvSpPr>
            <a:spLocks noGrp="1"/>
          </p:cNvSpPr>
          <p:nvPr/>
        </p:nvSpPr>
        <p:spPr>
          <a:xfrm>
            <a:off x="1066800" y="2438400"/>
            <a:ext cx="2343150" cy="2000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0">
                <a:solidFill>
                  <a:srgbClr val="344054"/>
                </a:solidFill>
                <a:latin typeface="Aptos"/>
                <a:ea typeface="Aptos"/>
                <a:cs typeface="Aptos"/>
              </a:defRPr>
            </a:pPr>
            <a:r>
              <a:rPr sz="1575" b="0" dirty="0">
                <a:solidFill>
                  <a:srgbClr val="344054"/>
                </a:solidFill>
                <a:latin typeface="Aptos"/>
                <a:ea typeface="Aptos"/>
                <a:cs typeface="Aptos"/>
              </a:rPr>
              <a:t>surface cracking</a:t>
            </a:r>
          </a:p>
          <a:p>
            <a:pPr algn="l">
              <a:defRPr sz="1575" b="0">
                <a:solidFill>
                  <a:srgbClr val="344054"/>
                </a:solidFill>
                <a:latin typeface="Aptos"/>
                <a:ea typeface="Aptos"/>
                <a:cs typeface="Aptos"/>
              </a:defRPr>
            </a:pPr>
            <a:r>
              <a:rPr sz="1575" b="0" dirty="0">
                <a:solidFill>
                  <a:srgbClr val="344054"/>
                </a:solidFill>
                <a:latin typeface="Aptos"/>
                <a:ea typeface="Aptos"/>
                <a:cs typeface="Aptos"/>
              </a:rPr>
              <a:t>rutting and roughness</a:t>
            </a:r>
          </a:p>
          <a:p>
            <a:pPr algn="l">
              <a:defRPr sz="1575" b="0">
                <a:solidFill>
                  <a:srgbClr val="344054"/>
                </a:solidFill>
                <a:latin typeface="Aptos"/>
                <a:ea typeface="Aptos"/>
                <a:cs typeface="Aptos"/>
              </a:defRPr>
            </a:pPr>
            <a:r>
              <a:rPr sz="1575" b="0" dirty="0">
                <a:solidFill>
                  <a:srgbClr val="344054"/>
                </a:solidFill>
                <a:latin typeface="Aptos"/>
                <a:ea typeface="Aptos"/>
                <a:cs typeface="Aptos"/>
              </a:rPr>
              <a:t>deflection basin</a:t>
            </a:r>
          </a:p>
          <a:p>
            <a:pPr algn="l">
              <a:defRPr sz="1575" b="0">
                <a:solidFill>
                  <a:srgbClr val="344054"/>
                </a:solidFill>
                <a:latin typeface="Aptos"/>
                <a:ea typeface="Aptos"/>
                <a:cs typeface="Aptos"/>
              </a:defRPr>
            </a:pPr>
            <a:r>
              <a:rPr sz="1575" b="0" dirty="0">
                <a:solidFill>
                  <a:srgbClr val="344054"/>
                </a:solidFill>
                <a:latin typeface="Aptos"/>
                <a:ea typeface="Aptos"/>
                <a:cs typeface="Aptos"/>
              </a:rPr>
              <a:t>GPR layer / moisture proxies</a:t>
            </a:r>
          </a:p>
        </p:txBody>
      </p:sp>
      <p:sp>
        <p:nvSpPr>
          <p:cNvPr id="18" name="visual-enhancement-panel">
            <a:extLst>
              <a:ext uri="{FF2B5EF4-FFF2-40B4-BE49-F238E27FC236}">
                <a16:creationId xmlns:a16="http://schemas.microsoft.com/office/drawing/2014/main" id="{D48EB747-2CD1-414C-9E9B-6A30D7092ED5}"/>
              </a:ext>
            </a:extLst>
          </p:cNvPr>
          <p:cNvSpPr>
            <a:spLocks noGrp="1"/>
          </p:cNvSpPr>
          <p:nvPr/>
        </p:nvSpPr>
        <p:spPr>
          <a:xfrm>
            <a:off x="4076700" y="1333500"/>
            <a:ext cx="7239000" cy="396240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1430">
            <a:solidFill>
              <a:srgbClr val="D0D7DE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pic>
        <p:nvPicPr>
          <p:cNvPr id="39" name="Picture 38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555506" y="1504950"/>
            <a:ext cx="6281388" cy="3429000"/>
          </a:xfrm>
          <a:prstGeom prst="rect">
            <a:avLst/>
          </a:prstGeom>
        </p:spPr>
      </p:pic>
      <p:sp>
        <p:nvSpPr>
          <p:cNvPr id="20" name="visual-enhancement-text">
            <a:extLst>
              <a:ext uri="{FF2B5EF4-FFF2-40B4-BE49-F238E27FC236}">
                <a16:creationId xmlns:a16="http://schemas.microsoft.com/office/drawing/2014/main" id="{24EB190E-F7FF-4C3B-A69A-4C1444E9E242}"/>
              </a:ext>
            </a:extLst>
          </p:cNvPr>
          <p:cNvSpPr>
            <a:spLocks noGrp="1"/>
          </p:cNvSpPr>
          <p:nvPr/>
        </p:nvSpPr>
        <p:spPr>
          <a:xfrm>
            <a:off x="4533900" y="4933950"/>
            <a:ext cx="6324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42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Same visible pattern, different hidden mechanical states</a:t>
            </a:r>
          </a:p>
        </p:txBody>
      </p:sp>
      <p:sp>
        <p:nvSpPr>
          <p:cNvPr id="21" name="visual-enhancement-key-message">
            <a:extLst>
              <a:ext uri="{FF2B5EF4-FFF2-40B4-BE49-F238E27FC236}">
                <a16:creationId xmlns:a16="http://schemas.microsoft.com/office/drawing/2014/main" id="{3BBA18F5-3261-42FD-9EDF-4A008C42A784}"/>
              </a:ext>
            </a:extLst>
          </p:cNvPr>
          <p:cNvSpPr>
            <a:spLocks noGrp="1"/>
          </p:cNvSpPr>
          <p:nvPr/>
        </p:nvSpPr>
        <p:spPr>
          <a:xfrm>
            <a:off x="914400" y="5638800"/>
            <a:ext cx="10401300" cy="495300"/>
          </a:xfrm>
          <a:prstGeom prst="roundRect">
            <a:avLst>
              <a:gd name="adj" fmla="val 23077"/>
            </a:avLst>
          </a:prstGeom>
          <a:solidFill>
            <a:srgbClr val="12324A"/>
          </a:solidFill>
          <a:ln w="0">
            <a:solidFill>
              <a:srgbClr val="12324A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pPr algn="ctr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Visible distress is an observation, not a unique mechanical diagnosis.</a:t>
            </a:r>
          </a:p>
        </p:txBody>
      </p:sp>
    </p:spTree>
    <p:extLst>
      <p:ext uri="{BB962C8B-B14F-4D97-AF65-F5344CB8AC3E}">
        <p14:creationId xmlns:p14="http://schemas.microsoft.com/office/powerpoint/2010/main" val="19941918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674919F-B231-4540-ADBA-3F7422897DC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2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7E6DF9E-AD4C-4D9D-9FFA-A92A9CB1DC69}"/>
              </a:ext>
            </a:extLst>
          </p:cNvPr>
          <p:cNvSpPr>
            <a:spLocks noGrp="1"/>
          </p:cNvSpPr>
          <p:nvPr/>
        </p:nvSpPr>
        <p:spPr>
          <a:xfrm>
            <a:off x="502920" y="310896"/>
            <a:ext cx="10698480" cy="41148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>
              <a:buNone/>
            </a:pPr>
            <a:r>
              <a:rPr sz="2400" b="1">
                <a:solidFill>
                  <a:srgbClr val="12304A"/>
                </a:solidFill>
                <a:latin typeface="Arial"/>
                <a:ea typeface="Arial"/>
                <a:cs typeface="Arial"/>
              </a:rPr>
              <a:t>2. Closed-loop road digital twin framework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5047244-DDFE-47BA-8C0C-DCC68BEE273C}"/>
              </a:ext>
            </a:extLst>
          </p:cNvPr>
          <p:cNvSpPr>
            <a:spLocks noGrp="1"/>
          </p:cNvSpPr>
          <p:nvPr/>
        </p:nvSpPr>
        <p:spPr>
          <a:xfrm>
            <a:off x="530352" y="749808"/>
            <a:ext cx="10607040" cy="32004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>
              <a:buNone/>
            </a:pPr>
            <a:r>
              <a:rPr sz="1200" b="0">
                <a:solidFill>
                  <a:srgbClr val="7C8894"/>
                </a:solidFill>
                <a:latin typeface="Arial"/>
                <a:ea typeface="Arial"/>
                <a:cs typeface="Arial"/>
              </a:rPr>
              <a:t>The proposed RDT is a maintenance loop, not just a 3D model or monitoring dashboard.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1AA6D7B-6919-4D25-AED8-AE2FAEC94557}"/>
              </a:ext>
            </a:extLst>
          </p:cNvPr>
          <p:cNvSpPr>
            <a:spLocks noGrp="1"/>
          </p:cNvSpPr>
          <p:nvPr/>
        </p:nvSpPr>
        <p:spPr>
          <a:xfrm>
            <a:off x="502920" y="6565392"/>
            <a:ext cx="5486400" cy="164592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>
              <a:buNone/>
            </a:pPr>
            <a:r>
              <a:rPr sz="750" b="0">
                <a:solidFill>
                  <a:srgbClr val="7C8894"/>
                </a:solidFill>
                <a:latin typeface="Arial"/>
                <a:ea typeface="Arial"/>
                <a:cs typeface="Arial"/>
              </a:rPr>
              <a:t>I3CE pre | Paper 454 | 3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CF92429-4C65-41EA-B005-5B16FBFA3700}"/>
              </a:ext>
            </a:extLst>
          </p:cNvPr>
          <p:cNvSpPr>
            <a:spLocks noGrp="1"/>
          </p:cNvSpPr>
          <p:nvPr/>
        </p:nvSpPr>
        <p:spPr>
          <a:xfrm>
            <a:off x="11292840" y="6565392"/>
            <a:ext cx="411480" cy="164592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r">
              <a:buNone/>
            </a:pPr>
            <a:r>
              <a:rPr sz="750" b="0">
                <a:solidFill>
                  <a:srgbClr val="7C8894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B8BE9750-55DC-4982-BC55-FE6DEB384831}"/>
              </a:ext>
            </a:extLst>
          </p:cNvPr>
          <p:cNvSpPr>
            <a:spLocks noGrp="1"/>
          </p:cNvSpPr>
          <p:nvPr/>
        </p:nvSpPr>
        <p:spPr>
          <a:xfrm>
            <a:off x="685800" y="1481328"/>
            <a:ext cx="2148840" cy="2971800"/>
          </a:xfrm>
          <a:prstGeom prst="roundRect">
            <a:avLst/>
          </a:prstGeom>
          <a:solidFill>
            <a:srgbClr val="E4EFF9"/>
          </a:solidFill>
          <a:ln w="12700">
            <a:solidFill>
              <a:srgbClr val="2D69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46304" bIns="109728" anchor="ctr"/>
          <a:lstStyle/>
          <a:p>
            <a:pPr algn="ctr">
              <a:buNone/>
            </a:pPr>
            <a:r>
              <a:rPr sz="1700" b="1">
                <a:solidFill>
                  <a:srgbClr val="12304A"/>
                </a:solidFill>
                <a:latin typeface="Arial"/>
                <a:ea typeface="Arial"/>
                <a:cs typeface="Arial"/>
              </a:rPr>
              <a:t>Sensing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77E53BC-D25B-4685-8AA9-80654682B283}"/>
              </a:ext>
            </a:extLst>
          </p:cNvPr>
          <p:cNvSpPr>
            <a:spLocks noGrp="1"/>
          </p:cNvSpPr>
          <p:nvPr/>
        </p:nvSpPr>
        <p:spPr>
          <a:xfrm>
            <a:off x="850392" y="2121408"/>
            <a:ext cx="1828800" cy="32004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ctr">
              <a:buNone/>
            </a:pPr>
            <a:r>
              <a:rPr sz="1300" b="1">
                <a:solidFill>
                  <a:srgbClr val="2D69A0"/>
                </a:solidFill>
                <a:latin typeface="Arial"/>
                <a:ea typeface="Arial"/>
                <a:cs typeface="Arial"/>
              </a:rPr>
              <a:t>xₖ → yₖ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B0A9FFD-9FF0-40A6-8476-DD8954526D54}"/>
              </a:ext>
            </a:extLst>
          </p:cNvPr>
          <p:cNvSpPr>
            <a:spLocks noGrp="1"/>
          </p:cNvSpPr>
          <p:nvPr/>
        </p:nvSpPr>
        <p:spPr>
          <a:xfrm>
            <a:off x="914400" y="2651760"/>
            <a:ext cx="1691640" cy="100584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ctr">
              <a:buNone/>
            </a:pPr>
            <a:r>
              <a:rPr sz="1200" b="0">
                <a:solidFill>
                  <a:srgbClr val="3A434D"/>
                </a:solidFill>
                <a:latin typeface="Arial"/>
                <a:ea typeface="Arial"/>
                <a:cs typeface="Arial"/>
              </a:rPr>
              <a:t>camera / LCMS</a:t>
            </a:r>
            <a:br/>
            <a:r>
              <a:rPr sz="1200" b="0">
                <a:solidFill>
                  <a:srgbClr val="3A434D"/>
                </a:solidFill>
                <a:latin typeface="Arial"/>
                <a:ea typeface="Arial"/>
                <a:cs typeface="Arial"/>
              </a:rPr>
              <a:t>FWD / TSD</a:t>
            </a:r>
            <a:br/>
            <a:r>
              <a:rPr sz="1200" b="0">
                <a:solidFill>
                  <a:srgbClr val="3A434D"/>
                </a:solidFill>
                <a:latin typeface="Arial"/>
                <a:ea typeface="Arial"/>
                <a:cs typeface="Arial"/>
              </a:rPr>
              <a:t>GPR / traffic</a:t>
            </a:r>
          </a:p>
        </p:txBody>
      </p:sp>
      <p:sp>
        <p:nvSpPr>
          <p:cNvPr id="10" name="Connector 9">
            <a:extLst>
              <a:ext uri="{FF2B5EF4-FFF2-40B4-BE49-F238E27FC236}">
                <a16:creationId xmlns:a16="http://schemas.microsoft.com/office/drawing/2014/main" id="{8336CC7E-4325-421C-89A4-1348AE2C16D0}"/>
              </a:ext>
            </a:extLst>
          </p:cNvPr>
          <p:cNvSpPr>
            <a:spLocks noGrp="1"/>
          </p:cNvSpPr>
          <p:nvPr/>
        </p:nvSpPr>
        <p:spPr>
          <a:xfrm>
            <a:off x="2916936" y="2971800"/>
            <a:ext cx="420624" cy="0"/>
          </a:xfrm>
          <a:prstGeom prst="line">
            <a:avLst/>
          </a:prstGeom>
          <a:ln w="25400">
            <a:solidFill>
              <a:srgbClr val="7C889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4A5E51D8-838F-4EDD-A13B-9C546912652D}"/>
              </a:ext>
            </a:extLst>
          </p:cNvPr>
          <p:cNvSpPr>
            <a:spLocks noGrp="1"/>
          </p:cNvSpPr>
          <p:nvPr/>
        </p:nvSpPr>
        <p:spPr>
          <a:xfrm>
            <a:off x="3429000" y="1481328"/>
            <a:ext cx="2148840" cy="2971800"/>
          </a:xfrm>
          <a:prstGeom prst="roundRect">
            <a:avLst/>
          </a:prstGeom>
          <a:solidFill>
            <a:srgbClr val="FDF1DE"/>
          </a:solidFill>
          <a:ln w="12700">
            <a:solidFill>
              <a:srgbClr val="F2A5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46304" bIns="109728" anchor="ctr"/>
          <a:lstStyle/>
          <a:p>
            <a:pPr algn="ctr">
              <a:buNone/>
            </a:pPr>
            <a:r>
              <a:rPr sz="1700" b="1">
                <a:solidFill>
                  <a:srgbClr val="12304A"/>
                </a:solidFill>
                <a:latin typeface="Arial"/>
                <a:ea typeface="Arial"/>
                <a:cs typeface="Arial"/>
              </a:rPr>
              <a:t>Inference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3685B68-76D1-40FB-97C6-AB78E6CA317F}"/>
              </a:ext>
            </a:extLst>
          </p:cNvPr>
          <p:cNvSpPr>
            <a:spLocks noGrp="1"/>
          </p:cNvSpPr>
          <p:nvPr/>
        </p:nvSpPr>
        <p:spPr>
          <a:xfrm>
            <a:off x="3593592" y="2121408"/>
            <a:ext cx="1828800" cy="32004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ctr">
              <a:buNone/>
            </a:pPr>
            <a:r>
              <a:rPr sz="1300" b="1">
                <a:solidFill>
                  <a:srgbClr val="F2A53A"/>
                </a:solidFill>
                <a:latin typeface="Arial"/>
                <a:ea typeface="Arial"/>
                <a:cs typeface="Arial"/>
              </a:rPr>
              <a:t>y₁:ₖ → p(xₖ|y₁:ₖ)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6D93CAB-F2F8-43B8-96FD-BE9707B6EF66}"/>
              </a:ext>
            </a:extLst>
          </p:cNvPr>
          <p:cNvSpPr>
            <a:spLocks noGrp="1"/>
          </p:cNvSpPr>
          <p:nvPr/>
        </p:nvSpPr>
        <p:spPr>
          <a:xfrm>
            <a:off x="3657600" y="2651760"/>
            <a:ext cx="1691640" cy="100584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ctr">
              <a:buNone/>
            </a:pPr>
            <a:r>
              <a:rPr sz="1200" b="0">
                <a:solidFill>
                  <a:srgbClr val="3A434D"/>
                </a:solidFill>
                <a:latin typeface="Arial"/>
                <a:ea typeface="Arial"/>
                <a:cs typeface="Arial"/>
              </a:rPr>
              <a:t>measurement-to-state</a:t>
            </a:r>
            <a:br/>
            <a:r>
              <a:rPr sz="1200" b="0">
                <a:solidFill>
                  <a:srgbClr val="3A434D"/>
                </a:solidFill>
                <a:latin typeface="Arial"/>
                <a:ea typeface="Arial"/>
                <a:cs typeface="Arial"/>
              </a:rPr>
              <a:t>state posterior</a:t>
            </a:r>
            <a:br/>
            <a:r>
              <a:rPr sz="1200" b="0">
                <a:solidFill>
                  <a:srgbClr val="3A434D"/>
                </a:solidFill>
                <a:latin typeface="Arial"/>
                <a:ea typeface="Arial"/>
                <a:cs typeface="Arial"/>
              </a:rPr>
              <a:t>uncertainty</a:t>
            </a:r>
          </a:p>
        </p:txBody>
      </p:sp>
      <p:sp>
        <p:nvSpPr>
          <p:cNvPr id="14" name="Connector 13">
            <a:extLst>
              <a:ext uri="{FF2B5EF4-FFF2-40B4-BE49-F238E27FC236}">
                <a16:creationId xmlns:a16="http://schemas.microsoft.com/office/drawing/2014/main" id="{6C2C2524-53D7-4ED7-ABE8-136D966B6AC2}"/>
              </a:ext>
            </a:extLst>
          </p:cNvPr>
          <p:cNvSpPr>
            <a:spLocks noGrp="1"/>
          </p:cNvSpPr>
          <p:nvPr/>
        </p:nvSpPr>
        <p:spPr>
          <a:xfrm>
            <a:off x="5660136" y="2971800"/>
            <a:ext cx="420624" cy="0"/>
          </a:xfrm>
          <a:prstGeom prst="line">
            <a:avLst/>
          </a:prstGeom>
          <a:ln w="25400">
            <a:solidFill>
              <a:srgbClr val="7C889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BFEDFECC-49B2-414C-98B5-8081FC79B34C}"/>
              </a:ext>
            </a:extLst>
          </p:cNvPr>
          <p:cNvSpPr>
            <a:spLocks noGrp="1"/>
          </p:cNvSpPr>
          <p:nvPr/>
        </p:nvSpPr>
        <p:spPr>
          <a:xfrm>
            <a:off x="6172200" y="1481328"/>
            <a:ext cx="2148840" cy="2971800"/>
          </a:xfrm>
          <a:prstGeom prst="roundRect">
            <a:avLst/>
          </a:prstGeom>
          <a:solidFill>
            <a:srgbClr val="E2F4F1"/>
          </a:solidFill>
          <a:ln w="12700">
            <a:solidFill>
              <a:srgbClr val="1E8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46304" bIns="109728" anchor="ctr"/>
          <a:lstStyle/>
          <a:p>
            <a:pPr algn="ctr">
              <a:buNone/>
            </a:pPr>
            <a:r>
              <a:rPr sz="1700" b="1">
                <a:solidFill>
                  <a:srgbClr val="12304A"/>
                </a:solidFill>
                <a:latin typeface="Arial"/>
                <a:ea typeface="Arial"/>
                <a:cs typeface="Arial"/>
              </a:rPr>
              <a:t>Prognosis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C715318-3C33-4C98-BFFC-F2C2B8C5BE43}"/>
              </a:ext>
            </a:extLst>
          </p:cNvPr>
          <p:cNvSpPr>
            <a:spLocks noGrp="1"/>
          </p:cNvSpPr>
          <p:nvPr/>
        </p:nvSpPr>
        <p:spPr>
          <a:xfrm>
            <a:off x="6336792" y="2121408"/>
            <a:ext cx="1828800" cy="32004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ctr">
              <a:buNone/>
            </a:pPr>
            <a:r>
              <a:rPr sz="1300" b="1">
                <a:solidFill>
                  <a:srgbClr val="1E8A8A"/>
                </a:solidFill>
                <a:latin typeface="Arial"/>
                <a:ea typeface="Arial"/>
                <a:cs typeface="Arial"/>
              </a:rPr>
              <a:t>p(xₖ|y₁:ₖ) → risk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16B17D5-6B6B-4DFD-A8F2-5E63DC7838D4}"/>
              </a:ext>
            </a:extLst>
          </p:cNvPr>
          <p:cNvSpPr>
            <a:spLocks noGrp="1"/>
          </p:cNvSpPr>
          <p:nvPr/>
        </p:nvSpPr>
        <p:spPr>
          <a:xfrm>
            <a:off x="6400800" y="2651760"/>
            <a:ext cx="1691640" cy="100584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ctr">
              <a:buNone/>
            </a:pPr>
            <a:r>
              <a:rPr sz="1200" b="0">
                <a:solidFill>
                  <a:srgbClr val="3A434D"/>
                </a:solidFill>
                <a:latin typeface="Arial"/>
                <a:ea typeface="Arial"/>
                <a:cs typeface="Arial"/>
              </a:rPr>
              <a:t>crack evolution</a:t>
            </a:r>
            <a:br/>
            <a:r>
              <a:rPr sz="1200" b="0">
                <a:solidFill>
                  <a:srgbClr val="3A434D"/>
                </a:solidFill>
                <a:latin typeface="Arial"/>
                <a:ea typeface="Arial"/>
                <a:cs typeface="Arial"/>
              </a:rPr>
              <a:t>RUL / PoF</a:t>
            </a:r>
            <a:br/>
            <a:r>
              <a:rPr sz="1200" b="0">
                <a:solidFill>
                  <a:srgbClr val="3A434D"/>
                </a:solidFill>
                <a:latin typeface="Arial"/>
                <a:ea typeface="Arial"/>
                <a:cs typeface="Arial"/>
              </a:rPr>
              <a:t>forecast intervals</a:t>
            </a:r>
          </a:p>
        </p:txBody>
      </p:sp>
      <p:sp>
        <p:nvSpPr>
          <p:cNvPr id="18" name="Connector 17">
            <a:extLst>
              <a:ext uri="{FF2B5EF4-FFF2-40B4-BE49-F238E27FC236}">
                <a16:creationId xmlns:a16="http://schemas.microsoft.com/office/drawing/2014/main" id="{7FBBFA1D-69EA-4791-801D-CFAC696CF9B0}"/>
              </a:ext>
            </a:extLst>
          </p:cNvPr>
          <p:cNvSpPr>
            <a:spLocks noGrp="1"/>
          </p:cNvSpPr>
          <p:nvPr/>
        </p:nvSpPr>
        <p:spPr>
          <a:xfrm>
            <a:off x="8403336" y="2971800"/>
            <a:ext cx="420624" cy="0"/>
          </a:xfrm>
          <a:prstGeom prst="line">
            <a:avLst/>
          </a:prstGeom>
          <a:ln w="25400">
            <a:solidFill>
              <a:srgbClr val="7C889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7E79945B-0C60-4949-B86C-D7CFC2556B82}"/>
              </a:ext>
            </a:extLst>
          </p:cNvPr>
          <p:cNvSpPr>
            <a:spLocks noGrp="1"/>
          </p:cNvSpPr>
          <p:nvPr/>
        </p:nvSpPr>
        <p:spPr>
          <a:xfrm>
            <a:off x="8915400" y="1481328"/>
            <a:ext cx="2148840" cy="2971800"/>
          </a:xfrm>
          <a:prstGeom prst="roundRect">
            <a:avLst/>
          </a:prstGeom>
          <a:solidFill>
            <a:srgbClr val="E8F2E8"/>
          </a:solidFill>
          <a:ln w="12700">
            <a:solidFill>
              <a:srgbClr val="5E97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46304" bIns="109728" anchor="ctr"/>
          <a:lstStyle/>
          <a:p>
            <a:pPr algn="ctr">
              <a:buNone/>
            </a:pPr>
            <a:r>
              <a:rPr sz="1700" b="1">
                <a:solidFill>
                  <a:srgbClr val="12304A"/>
                </a:solidFill>
                <a:latin typeface="Arial"/>
                <a:ea typeface="Arial"/>
                <a:cs typeface="Arial"/>
              </a:rPr>
              <a:t>Decision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46E7675-F73C-4440-8B77-16FFF64DA762}"/>
              </a:ext>
            </a:extLst>
          </p:cNvPr>
          <p:cNvSpPr>
            <a:spLocks noGrp="1"/>
          </p:cNvSpPr>
          <p:nvPr/>
        </p:nvSpPr>
        <p:spPr>
          <a:xfrm>
            <a:off x="9079992" y="2121408"/>
            <a:ext cx="1828800" cy="32004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ctr">
              <a:buNone/>
            </a:pPr>
            <a:r>
              <a:rPr sz="1300" b="1">
                <a:solidFill>
                  <a:srgbClr val="5E976F"/>
                </a:solidFill>
                <a:latin typeface="Arial"/>
                <a:ea typeface="Arial"/>
                <a:cs typeface="Arial"/>
              </a:rPr>
              <a:t>risk → aₖ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613C299-C5FF-4C46-A4B5-E040732D5159}"/>
              </a:ext>
            </a:extLst>
          </p:cNvPr>
          <p:cNvSpPr>
            <a:spLocks noGrp="1"/>
          </p:cNvSpPr>
          <p:nvPr/>
        </p:nvSpPr>
        <p:spPr>
          <a:xfrm>
            <a:off x="9144000" y="2651760"/>
            <a:ext cx="1691640" cy="100584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ctr">
              <a:buNone/>
            </a:pPr>
            <a:r>
              <a:rPr sz="1200" b="0">
                <a:solidFill>
                  <a:srgbClr val="3A434D"/>
                </a:solidFill>
                <a:latin typeface="Arial"/>
                <a:ea typeface="Arial"/>
                <a:cs typeface="Arial"/>
              </a:rPr>
              <a:t>maintenance action</a:t>
            </a:r>
            <a:br/>
            <a:r>
              <a:rPr sz="1200" b="0">
                <a:solidFill>
                  <a:srgbClr val="3A434D"/>
                </a:solidFill>
                <a:latin typeface="Arial"/>
                <a:ea typeface="Arial"/>
                <a:cs typeface="Arial"/>
              </a:rPr>
              <a:t>inspection planning</a:t>
            </a:r>
            <a:br/>
            <a:r>
              <a:rPr sz="1200" b="0">
                <a:solidFill>
                  <a:srgbClr val="3A434D"/>
                </a:solidFill>
                <a:latin typeface="Arial"/>
                <a:ea typeface="Arial"/>
                <a:cs typeface="Arial"/>
              </a:rPr>
              <a:t>budget priority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AB6C78FD-C6A5-4BFF-8E65-F62908C4ABCE}"/>
              </a:ext>
            </a:extLst>
          </p:cNvPr>
          <p:cNvSpPr>
            <a:spLocks noGrp="1"/>
          </p:cNvSpPr>
          <p:nvPr/>
        </p:nvSpPr>
        <p:spPr>
          <a:xfrm>
            <a:off x="3291840" y="1344168"/>
            <a:ext cx="2423160" cy="3246120"/>
          </a:xfrm>
          <a:prstGeom prst="roundRect">
            <a:avLst/>
          </a:prstGeom>
          <a:noFill/>
          <a:ln w="27940">
            <a:solidFill>
              <a:srgbClr val="B750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6BCC66F3-DB09-43D5-B6E2-DE051F6E8CB2}"/>
              </a:ext>
            </a:extLst>
          </p:cNvPr>
          <p:cNvSpPr>
            <a:spLocks noGrp="1"/>
          </p:cNvSpPr>
          <p:nvPr/>
        </p:nvSpPr>
        <p:spPr>
          <a:xfrm>
            <a:off x="3611880" y="4754880"/>
            <a:ext cx="1828800" cy="301752"/>
          </a:xfrm>
          <a:prstGeom prst="roundRect">
            <a:avLst/>
          </a:prstGeom>
          <a:solidFill>
            <a:srgbClr val="FFEBEB"/>
          </a:solidFill>
          <a:ln>
            <a:solidFill>
              <a:srgbClr val="FFE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r>
              <a:rPr sz="1000" b="1">
                <a:solidFill>
                  <a:srgbClr val="B7504D"/>
                </a:solidFill>
                <a:latin typeface="Arial"/>
                <a:ea typeface="Arial"/>
                <a:cs typeface="Arial"/>
              </a:rPr>
              <a:t>inference is the bottleneck</a:t>
            </a:r>
          </a:p>
        </p:txBody>
      </p:sp>
      <p:sp>
        <p:nvSpPr>
          <p:cNvPr id="24" name="Connector 23">
            <a:extLst>
              <a:ext uri="{FF2B5EF4-FFF2-40B4-BE49-F238E27FC236}">
                <a16:creationId xmlns:a16="http://schemas.microsoft.com/office/drawing/2014/main" id="{12B85B1D-D584-4F40-85E5-5D9CF8143940}"/>
              </a:ext>
            </a:extLst>
          </p:cNvPr>
          <p:cNvSpPr>
            <a:spLocks noGrp="1"/>
          </p:cNvSpPr>
          <p:nvPr/>
        </p:nvSpPr>
        <p:spPr>
          <a:xfrm flipH="1">
            <a:off x="1828800" y="4754880"/>
            <a:ext cx="8046720" cy="0"/>
          </a:xfrm>
          <a:prstGeom prst="line">
            <a:avLst/>
          </a:prstGeom>
          <a:ln w="16510">
            <a:solidFill>
              <a:srgbClr val="7C889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502D810-312C-4760-9F9C-F169A01D8266}"/>
              </a:ext>
            </a:extLst>
          </p:cNvPr>
          <p:cNvSpPr>
            <a:spLocks noGrp="1"/>
          </p:cNvSpPr>
          <p:nvPr/>
        </p:nvSpPr>
        <p:spPr>
          <a:xfrm>
            <a:off x="3749039" y="4956048"/>
            <a:ext cx="4663440" cy="32004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7C8894"/>
                </a:solidFill>
                <a:latin typeface="Arial"/>
                <a:ea typeface="Arial"/>
                <a:cs typeface="Arial"/>
              </a:rPr>
              <a:t>Physical feedback: actions change state evolution; information feedback: inspections adapt sensing.</a:t>
            </a:r>
          </a:p>
        </p:txBody>
      </p:sp>
      <p:sp>
        <p:nvSpPr>
          <p:cNvPr id="26" name="visual-enhancement-mask">
            <a:extLst>
              <a:ext uri="{FF2B5EF4-FFF2-40B4-BE49-F238E27FC236}">
                <a16:creationId xmlns:a16="http://schemas.microsoft.com/office/drawing/2014/main" id="{B8E2EC8B-AD10-478F-AA5B-1A8C711B3EEB}"/>
              </a:ext>
            </a:extLst>
          </p:cNvPr>
          <p:cNvSpPr>
            <a:spLocks noGrp="1"/>
          </p:cNvSpPr>
          <p:nvPr/>
        </p:nvSpPr>
        <p:spPr>
          <a:xfrm>
            <a:off x="457200" y="1162050"/>
            <a:ext cx="11277600" cy="52197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visual-enhancement-panel">
            <a:extLst>
              <a:ext uri="{FF2B5EF4-FFF2-40B4-BE49-F238E27FC236}">
                <a16:creationId xmlns:a16="http://schemas.microsoft.com/office/drawing/2014/main" id="{DA8396A2-FA04-4741-B138-E4BAD102191C}"/>
              </a:ext>
            </a:extLst>
          </p:cNvPr>
          <p:cNvSpPr>
            <a:spLocks noGrp="1"/>
          </p:cNvSpPr>
          <p:nvPr/>
        </p:nvSpPr>
        <p:spPr>
          <a:xfrm>
            <a:off x="685800" y="1314450"/>
            <a:ext cx="10820400" cy="487680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1430">
            <a:solidFill>
              <a:srgbClr val="D0D7DE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pic>
        <p:nvPicPr>
          <p:cNvPr id="55" name="Picture 54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33450" y="1468235"/>
            <a:ext cx="10325100" cy="46263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3659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21A7B7F-3226-495A-8E9C-FC7E7B6B233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2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CD9F1AB-AAF5-46D8-8DCF-516FA239F693}"/>
              </a:ext>
            </a:extLst>
          </p:cNvPr>
          <p:cNvSpPr>
            <a:spLocks noGrp="1"/>
          </p:cNvSpPr>
          <p:nvPr/>
        </p:nvSpPr>
        <p:spPr>
          <a:xfrm>
            <a:off x="502920" y="310896"/>
            <a:ext cx="10698480" cy="41148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>
              <a:buNone/>
            </a:pPr>
            <a:r>
              <a:rPr sz="2400" b="1">
                <a:solidFill>
                  <a:srgbClr val="12304A"/>
                </a:solidFill>
                <a:latin typeface="Arial"/>
                <a:ea typeface="Arial"/>
                <a:cs typeface="Arial"/>
              </a:rPr>
              <a:t>3. Measurement-to-state inference is ill-posed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DF210C1-4C68-4DE9-A159-B27A0FDB9A33}"/>
              </a:ext>
            </a:extLst>
          </p:cNvPr>
          <p:cNvSpPr>
            <a:spLocks noGrp="1"/>
          </p:cNvSpPr>
          <p:nvPr/>
        </p:nvSpPr>
        <p:spPr>
          <a:xfrm>
            <a:off x="530352" y="749808"/>
            <a:ext cx="10607040" cy="32004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>
              <a:buNone/>
            </a:pPr>
            <a:r>
              <a:rPr sz="1200" b="0">
                <a:solidFill>
                  <a:srgbClr val="7C8894"/>
                </a:solidFill>
                <a:latin typeface="Arial"/>
                <a:ea typeface="Arial"/>
                <a:cs typeface="Arial"/>
              </a:rPr>
              <a:t>The task is to infer hidden state xₖ from indirect, noisy observations yₖ.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578F6D4-331F-4604-BF9A-966930BBF2DD}"/>
              </a:ext>
            </a:extLst>
          </p:cNvPr>
          <p:cNvSpPr>
            <a:spLocks noGrp="1"/>
          </p:cNvSpPr>
          <p:nvPr/>
        </p:nvSpPr>
        <p:spPr>
          <a:xfrm>
            <a:off x="502920" y="6565392"/>
            <a:ext cx="5486400" cy="164592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>
              <a:buNone/>
            </a:pPr>
            <a:r>
              <a:rPr sz="750" b="0">
                <a:solidFill>
                  <a:srgbClr val="7C8894"/>
                </a:solidFill>
                <a:latin typeface="Arial"/>
                <a:ea typeface="Arial"/>
                <a:cs typeface="Arial"/>
              </a:rPr>
              <a:t>I3CE pre | Paper 454 | 4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D0D23E0-A7E4-48C5-9CEB-DA16EAEC5087}"/>
              </a:ext>
            </a:extLst>
          </p:cNvPr>
          <p:cNvSpPr>
            <a:spLocks noGrp="1"/>
          </p:cNvSpPr>
          <p:nvPr/>
        </p:nvSpPr>
        <p:spPr>
          <a:xfrm>
            <a:off x="11292840" y="6565392"/>
            <a:ext cx="411480" cy="164592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r">
              <a:buNone/>
            </a:pPr>
            <a:r>
              <a:rPr sz="750" b="0">
                <a:solidFill>
                  <a:srgbClr val="7C8894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4EF8B8A0-1ED0-4912-A6CB-AEFA30584265}"/>
              </a:ext>
            </a:extLst>
          </p:cNvPr>
          <p:cNvSpPr>
            <a:spLocks noGrp="1"/>
          </p:cNvSpPr>
          <p:nvPr/>
        </p:nvSpPr>
        <p:spPr>
          <a:xfrm>
            <a:off x="868680" y="1234440"/>
            <a:ext cx="10469880" cy="1143000"/>
          </a:xfrm>
          <a:prstGeom prst="roundRect">
            <a:avLst/>
          </a:prstGeom>
          <a:solidFill>
            <a:srgbClr val="F3F6F9"/>
          </a:solidFill>
          <a:ln>
            <a:solidFill>
              <a:srgbClr val="F3F6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68E0BEC-3C23-4086-9981-B91572F6C694}"/>
              </a:ext>
            </a:extLst>
          </p:cNvPr>
          <p:cNvSpPr>
            <a:spLocks noGrp="1"/>
          </p:cNvSpPr>
          <p:nvPr/>
        </p:nvSpPr>
        <p:spPr>
          <a:xfrm>
            <a:off x="1143000" y="1536192"/>
            <a:ext cx="9921240" cy="41148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ctr">
              <a:buNone/>
            </a:pPr>
            <a:r>
              <a:rPr sz="2600" b="1">
                <a:solidFill>
                  <a:srgbClr val="12304A"/>
                </a:solidFill>
                <a:latin typeface="Arial"/>
                <a:ea typeface="Arial"/>
                <a:cs typeface="Arial"/>
              </a:rPr>
              <a:t>yₖ = ℋ(xₖ) + εₖ     →     estimate p(xₖ | y₁:ₖ)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7A63E71F-CB1A-4AB2-B682-458A164BCE84}"/>
              </a:ext>
            </a:extLst>
          </p:cNvPr>
          <p:cNvSpPr>
            <a:spLocks noGrp="1"/>
          </p:cNvSpPr>
          <p:nvPr/>
        </p:nvSpPr>
        <p:spPr>
          <a:xfrm>
            <a:off x="868680" y="2834640"/>
            <a:ext cx="324612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F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46304" bIns="109728" anchor="ctr"/>
          <a:lstStyle/>
          <a:p>
            <a:pPr algn="ctr">
              <a:buNone/>
            </a:pPr>
            <a:r>
              <a:rPr sz="1500" b="1">
                <a:solidFill>
                  <a:srgbClr val="2D69A0"/>
                </a:solidFill>
                <a:latin typeface="Arial"/>
                <a:ea typeface="Arial"/>
                <a:cs typeface="Arial"/>
              </a:rPr>
              <a:t>Non-uniqueness</a:t>
            </a:r>
          </a:p>
          <a:p>
            <a:pPr>
              <a:spcBef>
                <a:spcPts val="600"/>
              </a:spcBef>
              <a:buNone/>
            </a:pPr>
            <a:r>
              <a:rPr sz="1300">
                <a:solidFill>
                  <a:srgbClr val="3A434D"/>
                </a:solidFill>
                <a:latin typeface="Arial"/>
                <a:ea typeface="Arial"/>
                <a:cs typeface="Arial"/>
              </a:rPr>
              <a:t>Similar surface cracks can reflect top-down cracking, bottom-up fatigue, or thermal effects.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9877AD17-9C20-45A3-B90E-593D99510071}"/>
              </a:ext>
            </a:extLst>
          </p:cNvPr>
          <p:cNvSpPr>
            <a:spLocks noGrp="1"/>
          </p:cNvSpPr>
          <p:nvPr/>
        </p:nvSpPr>
        <p:spPr>
          <a:xfrm>
            <a:off x="4462272" y="2834640"/>
            <a:ext cx="324612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DF1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46304" bIns="109728" anchor="ctr"/>
          <a:lstStyle/>
          <a:p>
            <a:pPr algn="ctr">
              <a:buNone/>
            </a:pPr>
            <a:r>
              <a:rPr sz="1500" b="1">
                <a:solidFill>
                  <a:srgbClr val="F2A53A"/>
                </a:solidFill>
                <a:latin typeface="Arial"/>
                <a:ea typeface="Arial"/>
                <a:cs typeface="Arial"/>
              </a:rPr>
              <a:t>Noise amplification</a:t>
            </a:r>
          </a:p>
          <a:p>
            <a:pPr>
              <a:spcBef>
                <a:spcPts val="600"/>
              </a:spcBef>
              <a:buNone/>
            </a:pPr>
            <a:r>
              <a:rPr sz="1300">
                <a:solidFill>
                  <a:srgbClr val="3A434D"/>
                </a:solidFill>
                <a:latin typeface="Arial"/>
                <a:ea typeface="Arial"/>
                <a:cs typeface="Arial"/>
              </a:rPr>
              <a:t>Small errors in measured deflections can produce large changes in inferred layer moduli.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43D45C3F-738B-4A16-A2D7-3A4E13C108AE}"/>
              </a:ext>
            </a:extLst>
          </p:cNvPr>
          <p:cNvSpPr>
            <a:spLocks noGrp="1"/>
          </p:cNvSpPr>
          <p:nvPr/>
        </p:nvSpPr>
        <p:spPr>
          <a:xfrm>
            <a:off x="8046720" y="2834640"/>
            <a:ext cx="324612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F4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46304" bIns="109728" anchor="ctr"/>
          <a:lstStyle/>
          <a:p>
            <a:pPr algn="ctr">
              <a:buNone/>
            </a:pPr>
            <a:r>
              <a:rPr sz="1500" b="1">
                <a:solidFill>
                  <a:srgbClr val="1E8A8A"/>
                </a:solidFill>
                <a:latin typeface="Arial"/>
                <a:ea typeface="Arial"/>
                <a:cs typeface="Arial"/>
              </a:rPr>
              <a:t>Model mismatch</a:t>
            </a:r>
          </a:p>
          <a:p>
            <a:pPr>
              <a:spcBef>
                <a:spcPts val="600"/>
              </a:spcBef>
              <a:buNone/>
            </a:pPr>
            <a:r>
              <a:rPr sz="1300">
                <a:solidFill>
                  <a:srgbClr val="3A434D"/>
                </a:solidFill>
                <a:latin typeface="Arial"/>
                <a:ea typeface="Arial"/>
                <a:cs typeface="Arial"/>
              </a:rPr>
              <a:t>Field pavements are heterogeneous, history-dependent, and only partly represented by simplified models.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86CF2F5-0C96-4C0E-B174-838246048F69}"/>
              </a:ext>
            </a:extLst>
          </p:cNvPr>
          <p:cNvSpPr>
            <a:spLocks noGrp="1"/>
          </p:cNvSpPr>
          <p:nvPr/>
        </p:nvSpPr>
        <p:spPr>
          <a:xfrm>
            <a:off x="868680" y="5577840"/>
            <a:ext cx="10469880" cy="45720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ctr">
              <a:buNone/>
            </a:pPr>
            <a:r>
              <a:rPr sz="1600" b="1">
                <a:solidFill>
                  <a:srgbClr val="12304A"/>
                </a:solidFill>
                <a:latin typeface="Arial"/>
                <a:ea typeface="Arial"/>
                <a:cs typeface="Arial"/>
              </a:rPr>
              <a:t>Therefore observations alone are not enough; physics, priors, multi-modal coupling and uncertainty treatment are needed.</a:t>
            </a:r>
          </a:p>
        </p:txBody>
      </p:sp>
    </p:spTree>
    <p:extLst>
      <p:ext uri="{BB962C8B-B14F-4D97-AF65-F5344CB8AC3E}">
        <p14:creationId xmlns:p14="http://schemas.microsoft.com/office/powerpoint/2010/main" val="7396586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996B36A-400E-4080-97A7-F7BE66B293F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2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7329EBA-2C81-40D8-A31A-E1B516F1A6A0}"/>
              </a:ext>
            </a:extLst>
          </p:cNvPr>
          <p:cNvSpPr>
            <a:spLocks noGrp="1"/>
          </p:cNvSpPr>
          <p:nvPr/>
        </p:nvSpPr>
        <p:spPr>
          <a:xfrm>
            <a:off x="502920" y="310896"/>
            <a:ext cx="10698480" cy="41148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>
              <a:buNone/>
            </a:pPr>
            <a:r>
              <a:rPr sz="2400" b="1">
                <a:solidFill>
                  <a:srgbClr val="12304A"/>
                </a:solidFill>
                <a:latin typeface="Arial"/>
                <a:ea typeface="Arial"/>
                <a:cs typeface="Arial"/>
              </a:rPr>
              <a:t>4. Why fracture is difficult for standard PINNs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9E2ED82-60DB-4E55-B9EA-B1D07E4FBF78}"/>
              </a:ext>
            </a:extLst>
          </p:cNvPr>
          <p:cNvSpPr>
            <a:spLocks noGrp="1"/>
          </p:cNvSpPr>
          <p:nvPr/>
        </p:nvSpPr>
        <p:spPr>
          <a:xfrm>
            <a:off x="530352" y="749808"/>
            <a:ext cx="10607040" cy="32004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>
              <a:buNone/>
            </a:pPr>
            <a:r>
              <a:rPr sz="1200" b="0">
                <a:solidFill>
                  <a:srgbClr val="7C8894"/>
                </a:solidFill>
                <a:latin typeface="Arial"/>
                <a:ea typeface="Arial"/>
                <a:cs typeface="Arial"/>
              </a:rPr>
              <a:t>Residual-based PINNs are useful, but fracture violates many smooth-PDE assumptions.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90539E-73E7-4C55-962C-06273C1F6217}"/>
              </a:ext>
            </a:extLst>
          </p:cNvPr>
          <p:cNvSpPr>
            <a:spLocks noGrp="1"/>
          </p:cNvSpPr>
          <p:nvPr/>
        </p:nvSpPr>
        <p:spPr>
          <a:xfrm>
            <a:off x="502920" y="6565392"/>
            <a:ext cx="5486400" cy="164592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>
              <a:buNone/>
            </a:pPr>
            <a:r>
              <a:rPr sz="750" b="0">
                <a:solidFill>
                  <a:srgbClr val="7C8894"/>
                </a:solidFill>
                <a:latin typeface="Arial"/>
                <a:ea typeface="Arial"/>
                <a:cs typeface="Arial"/>
              </a:rPr>
              <a:t>I3CE pre | Paper 454 | 5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B3789D0-A1AF-46E4-8C8B-ED72CC4808A1}"/>
              </a:ext>
            </a:extLst>
          </p:cNvPr>
          <p:cNvSpPr>
            <a:spLocks noGrp="1"/>
          </p:cNvSpPr>
          <p:nvPr/>
        </p:nvSpPr>
        <p:spPr>
          <a:xfrm>
            <a:off x="11292840" y="6565392"/>
            <a:ext cx="411480" cy="164592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r">
              <a:buNone/>
            </a:pPr>
            <a:r>
              <a:rPr sz="750" b="0">
                <a:solidFill>
                  <a:srgbClr val="7C8894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6E2C1BE6-5CFD-46C0-8F54-5BB34C4C14E7}"/>
              </a:ext>
            </a:extLst>
          </p:cNvPr>
          <p:cNvSpPr>
            <a:spLocks noGrp="1"/>
          </p:cNvSpPr>
          <p:nvPr/>
        </p:nvSpPr>
        <p:spPr>
          <a:xfrm>
            <a:off x="749808" y="1234440"/>
            <a:ext cx="4023360" cy="4434840"/>
          </a:xfrm>
          <a:prstGeom prst="roundRect">
            <a:avLst/>
          </a:prstGeom>
          <a:solidFill>
            <a:srgbClr val="E4EFF9"/>
          </a:solidFill>
          <a:ln w="12700">
            <a:solidFill>
              <a:srgbClr val="2D69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46304" bIns="109728" anchor="ctr"/>
          <a:lstStyle/>
          <a:p>
            <a:pPr algn="ctr">
              <a:buNone/>
            </a:pPr>
            <a:r>
              <a:rPr sz="1500" b="1">
                <a:solidFill>
                  <a:srgbClr val="12304A"/>
                </a:solidFill>
                <a:latin typeface="Arial"/>
                <a:ea typeface="Arial"/>
                <a:cs typeface="Arial"/>
              </a:rPr>
              <a:t>Standard residual-based PINN</a:t>
            </a:r>
          </a:p>
          <a:p>
            <a:pPr>
              <a:spcBef>
                <a:spcPts val="600"/>
              </a:spcBef>
              <a:buNone/>
            </a:pPr>
            <a:r>
              <a:rPr sz="1400">
                <a:solidFill>
                  <a:srgbClr val="3A434D"/>
                </a:solidFill>
                <a:latin typeface="Arial"/>
                <a:ea typeface="Arial"/>
                <a:cs typeface="Arial"/>
              </a:rPr>
              <a:t>Physics enters as a pointwise PDE residual in the training loss. This works best when the target field is smooth and constraints can be handled softly.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B20CCA43-8255-41C8-B96B-CE670A0BE2A3}"/>
              </a:ext>
            </a:extLst>
          </p:cNvPr>
          <p:cNvSpPr>
            <a:spLocks noGrp="1"/>
          </p:cNvSpPr>
          <p:nvPr/>
        </p:nvSpPr>
        <p:spPr>
          <a:xfrm>
            <a:off x="5532120" y="1325880"/>
            <a:ext cx="251460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3F6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46304" bIns="109728" anchor="ctr"/>
          <a:lstStyle/>
          <a:p>
            <a:pPr algn="ctr">
              <a:buNone/>
            </a:pPr>
            <a:r>
              <a:rPr sz="1400" b="1">
                <a:solidFill>
                  <a:srgbClr val="B7504D"/>
                </a:solidFill>
                <a:latin typeface="Arial"/>
                <a:ea typeface="Arial"/>
                <a:cs typeface="Arial"/>
              </a:rPr>
              <a:t>Discontinuous fields</a:t>
            </a:r>
          </a:p>
          <a:p>
            <a:pPr>
              <a:spcBef>
                <a:spcPts val="600"/>
              </a:spcBef>
              <a:buNone/>
            </a:pPr>
            <a:r>
              <a:rPr sz="1150">
                <a:solidFill>
                  <a:srgbClr val="3A434D"/>
                </a:solidFill>
                <a:latin typeface="Arial"/>
                <a:ea typeface="Arial"/>
                <a:cs typeface="Arial"/>
              </a:rPr>
              <a:t>cracks create jumps and localisation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63EE75C2-529F-40BD-819B-614E2EEF7F9C}"/>
              </a:ext>
            </a:extLst>
          </p:cNvPr>
          <p:cNvSpPr>
            <a:spLocks noGrp="1"/>
          </p:cNvSpPr>
          <p:nvPr/>
        </p:nvSpPr>
        <p:spPr>
          <a:xfrm>
            <a:off x="8549640" y="1325880"/>
            <a:ext cx="251460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3F6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46304" bIns="109728" anchor="ctr"/>
          <a:lstStyle/>
          <a:p>
            <a:pPr algn="ctr">
              <a:buNone/>
            </a:pPr>
            <a:r>
              <a:rPr sz="1400" b="1">
                <a:solidFill>
                  <a:srgbClr val="B7504D"/>
                </a:solidFill>
                <a:latin typeface="Arial"/>
                <a:ea typeface="Arial"/>
                <a:cs typeface="Arial"/>
              </a:rPr>
              <a:t>Crack-tip singularities</a:t>
            </a:r>
          </a:p>
          <a:p>
            <a:pPr>
              <a:spcBef>
                <a:spcPts val="600"/>
              </a:spcBef>
              <a:buNone/>
            </a:pPr>
            <a:r>
              <a:rPr sz="1150">
                <a:solidFill>
                  <a:srgbClr val="3A434D"/>
                </a:solidFill>
                <a:latin typeface="Arial"/>
                <a:ea typeface="Arial"/>
                <a:cs typeface="Arial"/>
              </a:rPr>
              <a:t>stress concentration is hard for smooth MLPs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E431FDF7-C8C7-4952-AA4A-10451E3E4B83}"/>
              </a:ext>
            </a:extLst>
          </p:cNvPr>
          <p:cNvSpPr>
            <a:spLocks noGrp="1"/>
          </p:cNvSpPr>
          <p:nvPr/>
        </p:nvSpPr>
        <p:spPr>
          <a:xfrm>
            <a:off x="5532120" y="3611880"/>
            <a:ext cx="251460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3F6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46304" bIns="109728" anchor="ctr"/>
          <a:lstStyle/>
          <a:p>
            <a:pPr algn="ctr">
              <a:buNone/>
            </a:pPr>
            <a:r>
              <a:rPr sz="1400" b="1">
                <a:solidFill>
                  <a:srgbClr val="B7504D"/>
                </a:solidFill>
                <a:latin typeface="Arial"/>
                <a:ea typeface="Arial"/>
                <a:cs typeface="Arial"/>
              </a:rPr>
              <a:t>Irreversibility</a:t>
            </a:r>
          </a:p>
          <a:p>
            <a:pPr>
              <a:spcBef>
                <a:spcPts val="600"/>
              </a:spcBef>
              <a:buNone/>
            </a:pPr>
            <a:r>
              <a:rPr sz="1150">
                <a:solidFill>
                  <a:srgbClr val="3A434D"/>
                </a:solidFill>
                <a:latin typeface="Arial"/>
                <a:ea typeface="Arial"/>
                <a:cs typeface="Arial"/>
              </a:rPr>
              <a:t>damage should not heal during evolution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D8FA2973-3AEA-431B-87F2-592B3A30B8CD}"/>
              </a:ext>
            </a:extLst>
          </p:cNvPr>
          <p:cNvSpPr>
            <a:spLocks noGrp="1"/>
          </p:cNvSpPr>
          <p:nvPr/>
        </p:nvSpPr>
        <p:spPr>
          <a:xfrm>
            <a:off x="8549640" y="3611880"/>
            <a:ext cx="251460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3F6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46304" bIns="109728" anchor="ctr"/>
          <a:lstStyle/>
          <a:p>
            <a:pPr algn="ctr">
              <a:buNone/>
            </a:pPr>
            <a:r>
              <a:rPr sz="1400" b="1">
                <a:solidFill>
                  <a:srgbClr val="B7504D"/>
                </a:solidFill>
                <a:latin typeface="Arial"/>
                <a:ea typeface="Arial"/>
                <a:cs typeface="Arial"/>
              </a:rPr>
              <a:t>Non-convex energy</a:t>
            </a:r>
          </a:p>
          <a:p>
            <a:pPr>
              <a:spcBef>
                <a:spcPts val="600"/>
              </a:spcBef>
              <a:buNone/>
            </a:pPr>
            <a:r>
              <a:rPr sz="1150">
                <a:solidFill>
                  <a:srgbClr val="3A434D"/>
                </a:solidFill>
                <a:latin typeface="Arial"/>
                <a:ea typeface="Arial"/>
                <a:cs typeface="Arial"/>
              </a:rPr>
              <a:t>multiple possible crack paths may compete</a:t>
            </a:r>
          </a:p>
        </p:txBody>
      </p:sp>
      <p:sp>
        <p:nvSpPr>
          <p:cNvPr id="12" name="Connector 11">
            <a:extLst>
              <a:ext uri="{FF2B5EF4-FFF2-40B4-BE49-F238E27FC236}">
                <a16:creationId xmlns:a16="http://schemas.microsoft.com/office/drawing/2014/main" id="{73F3A3AC-0A7B-4031-873B-2FBE908F7022}"/>
              </a:ext>
            </a:extLst>
          </p:cNvPr>
          <p:cNvSpPr>
            <a:spLocks noGrp="1"/>
          </p:cNvSpPr>
          <p:nvPr/>
        </p:nvSpPr>
        <p:spPr>
          <a:xfrm>
            <a:off x="4892040" y="3429000"/>
            <a:ext cx="502920" cy="0"/>
          </a:xfrm>
          <a:prstGeom prst="line">
            <a:avLst/>
          </a:prstGeom>
          <a:ln w="27940">
            <a:solidFill>
              <a:srgbClr val="B750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0E66864-BA80-442F-B662-86F51A36CC58}"/>
              </a:ext>
            </a:extLst>
          </p:cNvPr>
          <p:cNvSpPr>
            <a:spLocks noGrp="1"/>
          </p:cNvSpPr>
          <p:nvPr/>
        </p:nvSpPr>
        <p:spPr>
          <a:xfrm>
            <a:off x="841248" y="5897880"/>
            <a:ext cx="10789920" cy="32004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ctr">
              <a:buNone/>
            </a:pPr>
            <a:r>
              <a:rPr sz="1550" b="1">
                <a:solidFill>
                  <a:srgbClr val="12304A"/>
                </a:solidFill>
                <a:latin typeface="Arial"/>
                <a:ea typeface="Arial"/>
                <a:cs typeface="Arial"/>
              </a:rPr>
              <a:t>Message: the issue is not just hyperparameter tuning; it is a mismatch between formulation and fracture physics.</a:t>
            </a:r>
          </a:p>
        </p:txBody>
      </p:sp>
    </p:spTree>
    <p:extLst>
      <p:ext uri="{BB962C8B-B14F-4D97-AF65-F5344CB8AC3E}">
        <p14:creationId xmlns:p14="http://schemas.microsoft.com/office/powerpoint/2010/main" val="11843924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60A2FE8-78F5-4CDE-AB34-A50D40C8E47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2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023250F-081B-41D6-8D68-9C8B060F3973}"/>
              </a:ext>
            </a:extLst>
          </p:cNvPr>
          <p:cNvSpPr>
            <a:spLocks noGrp="1"/>
          </p:cNvSpPr>
          <p:nvPr/>
        </p:nvSpPr>
        <p:spPr>
          <a:xfrm>
            <a:off x="502920" y="310896"/>
            <a:ext cx="10698480" cy="41148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>
              <a:buNone/>
            </a:pPr>
            <a:r>
              <a:rPr sz="2400" b="1">
                <a:solidFill>
                  <a:srgbClr val="12304A"/>
                </a:solidFill>
                <a:latin typeface="Arial"/>
                <a:ea typeface="Arial"/>
                <a:cs typeface="Arial"/>
              </a:rPr>
              <a:t>5. Physics-injection taxonomy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A72EF7F-9FB0-48C0-BBF4-C4DC484D9F14}"/>
              </a:ext>
            </a:extLst>
          </p:cNvPr>
          <p:cNvSpPr>
            <a:spLocks noGrp="1"/>
          </p:cNvSpPr>
          <p:nvPr/>
        </p:nvSpPr>
        <p:spPr>
          <a:xfrm>
            <a:off x="530352" y="749808"/>
            <a:ext cx="10607040" cy="32004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>
              <a:buNone/>
            </a:pPr>
            <a:r>
              <a:rPr sz="1200" b="0">
                <a:solidFill>
                  <a:srgbClr val="7C8894"/>
                </a:solidFill>
                <a:latin typeface="Arial"/>
                <a:ea typeface="Arial"/>
                <a:cs typeface="Arial"/>
              </a:rPr>
              <a:t>“Physics-informed” should be treated as a design choice: where does physics enter the pipeline?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D56C9F3-1009-47EE-9F54-78EA769F8F0B}"/>
              </a:ext>
            </a:extLst>
          </p:cNvPr>
          <p:cNvSpPr>
            <a:spLocks noGrp="1"/>
          </p:cNvSpPr>
          <p:nvPr/>
        </p:nvSpPr>
        <p:spPr>
          <a:xfrm>
            <a:off x="502920" y="6565392"/>
            <a:ext cx="5486400" cy="164592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>
              <a:buNone/>
            </a:pPr>
            <a:r>
              <a:rPr sz="750" b="0">
                <a:solidFill>
                  <a:srgbClr val="7C8894"/>
                </a:solidFill>
                <a:latin typeface="Arial"/>
                <a:ea typeface="Arial"/>
                <a:cs typeface="Arial"/>
              </a:rPr>
              <a:t>I3CE pre | Paper 454 | 6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D1F3937-69EC-41A2-9B3C-7F50A4D8D29F}"/>
              </a:ext>
            </a:extLst>
          </p:cNvPr>
          <p:cNvSpPr>
            <a:spLocks noGrp="1"/>
          </p:cNvSpPr>
          <p:nvPr/>
        </p:nvSpPr>
        <p:spPr>
          <a:xfrm>
            <a:off x="11292840" y="6565392"/>
            <a:ext cx="411480" cy="164592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r">
              <a:buNone/>
            </a:pPr>
            <a:r>
              <a:rPr sz="750" b="0">
                <a:solidFill>
                  <a:srgbClr val="7C8894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577B81B1-BC43-48A3-8B50-7E06110AB2A6}"/>
              </a:ext>
            </a:extLst>
          </p:cNvPr>
          <p:cNvSpPr>
            <a:spLocks noGrp="1"/>
          </p:cNvSpPr>
          <p:nvPr/>
        </p:nvSpPr>
        <p:spPr>
          <a:xfrm>
            <a:off x="658368" y="1417320"/>
            <a:ext cx="2514600" cy="3520440"/>
          </a:xfrm>
          <a:prstGeom prst="roundRect">
            <a:avLst/>
          </a:prstGeom>
          <a:solidFill>
            <a:srgbClr val="E4EFF9"/>
          </a:solidFill>
          <a:ln w="12700">
            <a:solidFill>
              <a:srgbClr val="2D69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46304" bIns="109728" anchor="ctr"/>
          <a:lstStyle/>
          <a:p>
            <a:pPr algn="ctr">
              <a:buNone/>
            </a:pPr>
            <a:r>
              <a:rPr sz="1450" b="1">
                <a:solidFill>
                  <a:srgbClr val="12304A"/>
                </a:solidFill>
                <a:latin typeface="Arial"/>
                <a:ea typeface="Arial"/>
                <a:cs typeface="Arial"/>
              </a:rPr>
              <a:t>Strong-form PINN</a:t>
            </a:r>
          </a:p>
          <a:p>
            <a:pPr>
              <a:spcBef>
                <a:spcPts val="600"/>
              </a:spcBef>
              <a:buNone/>
            </a:pPr>
            <a:r>
              <a:rPr sz="1150">
                <a:solidFill>
                  <a:srgbClr val="3A434D"/>
                </a:solidFill>
                <a:latin typeface="Arial"/>
                <a:ea typeface="Arial"/>
                <a:cs typeface="Arial"/>
              </a:rPr>
              <a:t>Pointwise PDE residual</a:t>
            </a:r>
            <a:br/>
            <a:r>
              <a:rPr sz="1150">
                <a:solidFill>
                  <a:srgbClr val="3A434D"/>
                </a:solidFill>
                <a:latin typeface="Arial"/>
                <a:ea typeface="Arial"/>
                <a:cs typeface="Arial"/>
              </a:rPr>
              <a:t>+ simple baseline</a:t>
            </a:r>
            <a:br/>
            <a:r>
              <a:rPr sz="1150">
                <a:solidFill>
                  <a:srgbClr val="3A434D"/>
                </a:solidFill>
                <a:latin typeface="Arial"/>
                <a:ea typeface="Arial"/>
                <a:cs typeface="Arial"/>
              </a:rPr>
              <a:t>– weak near singularities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56E54199-EC97-4904-A6AE-0D9B4119886F}"/>
              </a:ext>
            </a:extLst>
          </p:cNvPr>
          <p:cNvSpPr>
            <a:spLocks noGrp="1"/>
          </p:cNvSpPr>
          <p:nvPr/>
        </p:nvSpPr>
        <p:spPr>
          <a:xfrm>
            <a:off x="3511296" y="1417320"/>
            <a:ext cx="2514600" cy="3520440"/>
          </a:xfrm>
          <a:prstGeom prst="roundRect">
            <a:avLst/>
          </a:prstGeom>
          <a:solidFill>
            <a:srgbClr val="FDF1DE"/>
          </a:solidFill>
          <a:ln w="12700">
            <a:solidFill>
              <a:srgbClr val="F2A5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46304" bIns="109728" anchor="ctr"/>
          <a:lstStyle/>
          <a:p>
            <a:pPr algn="ctr">
              <a:buNone/>
            </a:pPr>
            <a:r>
              <a:rPr sz="1450" b="1">
                <a:solidFill>
                  <a:srgbClr val="12304A"/>
                </a:solidFill>
                <a:latin typeface="Arial"/>
                <a:ea typeface="Arial"/>
                <a:cs typeface="Arial"/>
              </a:rPr>
              <a:t>Variational PINN</a:t>
            </a:r>
          </a:p>
          <a:p>
            <a:pPr>
              <a:spcBef>
                <a:spcPts val="600"/>
              </a:spcBef>
              <a:buNone/>
            </a:pPr>
            <a:r>
              <a:rPr sz="1150">
                <a:solidFill>
                  <a:srgbClr val="3A434D"/>
                </a:solidFill>
                <a:latin typeface="Arial"/>
                <a:ea typeface="Arial"/>
                <a:cs typeface="Arial"/>
              </a:rPr>
              <a:t>Energy minimisation</a:t>
            </a:r>
            <a:br/>
            <a:r>
              <a:rPr sz="1150">
                <a:solidFill>
                  <a:srgbClr val="3A434D"/>
                </a:solidFill>
                <a:latin typeface="Arial"/>
                <a:ea typeface="Arial"/>
                <a:cs typeface="Arial"/>
              </a:rPr>
              <a:t>+ aligned with fracture theory</a:t>
            </a:r>
            <a:br/>
            <a:r>
              <a:rPr sz="1150">
                <a:solidFill>
                  <a:srgbClr val="3A434D"/>
                </a:solidFill>
                <a:latin typeface="Arial"/>
                <a:ea typeface="Arial"/>
                <a:cs typeface="Arial"/>
              </a:rPr>
              <a:t>– non-convexity and constraints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2C6CE335-78F1-49D3-BC25-9C0394FBEDFD}"/>
              </a:ext>
            </a:extLst>
          </p:cNvPr>
          <p:cNvSpPr>
            <a:spLocks noGrp="1"/>
          </p:cNvSpPr>
          <p:nvPr/>
        </p:nvSpPr>
        <p:spPr>
          <a:xfrm>
            <a:off x="6364224" y="1417320"/>
            <a:ext cx="2514600" cy="3520440"/>
          </a:xfrm>
          <a:prstGeom prst="roundRect">
            <a:avLst/>
          </a:prstGeom>
          <a:solidFill>
            <a:srgbClr val="E2F4F1"/>
          </a:solidFill>
          <a:ln w="12700">
            <a:solidFill>
              <a:srgbClr val="1E8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46304" bIns="109728" anchor="ctr"/>
          <a:lstStyle/>
          <a:p>
            <a:pPr algn="ctr">
              <a:buNone/>
            </a:pPr>
            <a:r>
              <a:rPr sz="1450" b="1">
                <a:solidFill>
                  <a:srgbClr val="12304A"/>
                </a:solidFill>
                <a:latin typeface="Arial"/>
                <a:ea typeface="Arial"/>
                <a:cs typeface="Arial"/>
              </a:rPr>
              <a:t>Differentiable solver</a:t>
            </a:r>
          </a:p>
          <a:p>
            <a:pPr>
              <a:spcBef>
                <a:spcPts val="600"/>
              </a:spcBef>
              <a:buNone/>
            </a:pPr>
            <a:r>
              <a:rPr sz="1150">
                <a:solidFill>
                  <a:srgbClr val="3A434D"/>
                </a:solidFill>
                <a:latin typeface="Arial"/>
                <a:ea typeface="Arial"/>
                <a:cs typeface="Arial"/>
              </a:rPr>
              <a:t>Solver in computation graph</a:t>
            </a:r>
            <a:br/>
            <a:r>
              <a:rPr sz="1150">
                <a:solidFill>
                  <a:srgbClr val="3A434D"/>
                </a:solidFill>
                <a:latin typeface="Arial"/>
                <a:ea typeface="Arial"/>
                <a:cs typeface="Arial"/>
              </a:rPr>
              <a:t>+ hard constraints and inversion</a:t>
            </a:r>
            <a:br/>
            <a:r>
              <a:rPr sz="1150">
                <a:solidFill>
                  <a:srgbClr val="3A434D"/>
                </a:solidFill>
                <a:latin typeface="Arial"/>
                <a:ea typeface="Arial"/>
                <a:cs typeface="Arial"/>
              </a:rPr>
              <a:t>– implementation and memory cost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F79CC2D3-B8F0-4A91-A883-B46A94446773}"/>
              </a:ext>
            </a:extLst>
          </p:cNvPr>
          <p:cNvSpPr>
            <a:spLocks noGrp="1"/>
          </p:cNvSpPr>
          <p:nvPr/>
        </p:nvSpPr>
        <p:spPr>
          <a:xfrm>
            <a:off x="9217152" y="1417320"/>
            <a:ext cx="2514600" cy="3520440"/>
          </a:xfrm>
          <a:prstGeom prst="roundRect">
            <a:avLst/>
          </a:prstGeom>
          <a:solidFill>
            <a:srgbClr val="E8F2E8"/>
          </a:solidFill>
          <a:ln w="12700">
            <a:solidFill>
              <a:srgbClr val="5E97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46304" bIns="109728" anchor="ctr"/>
          <a:lstStyle/>
          <a:p>
            <a:pPr algn="ctr">
              <a:buNone/>
            </a:pPr>
            <a:r>
              <a:rPr sz="1450" b="1">
                <a:solidFill>
                  <a:srgbClr val="12304A"/>
                </a:solidFill>
                <a:latin typeface="Arial"/>
                <a:ea typeface="Arial"/>
                <a:cs typeface="Arial"/>
              </a:rPr>
              <a:t>Sequential assimilation</a:t>
            </a:r>
          </a:p>
          <a:p>
            <a:pPr>
              <a:spcBef>
                <a:spcPts val="600"/>
              </a:spcBef>
              <a:buNone/>
            </a:pPr>
            <a:r>
              <a:rPr sz="1150">
                <a:solidFill>
                  <a:srgbClr val="3A434D"/>
                </a:solidFill>
                <a:latin typeface="Arial"/>
                <a:ea typeface="Arial"/>
                <a:cs typeface="Arial"/>
              </a:rPr>
              <a:t>Bayesian state update</a:t>
            </a:r>
            <a:br/>
            <a:r>
              <a:rPr sz="1150">
                <a:solidFill>
                  <a:srgbClr val="3A434D"/>
                </a:solidFill>
                <a:latin typeface="Arial"/>
                <a:ea typeface="Arial"/>
                <a:cs typeface="Arial"/>
              </a:rPr>
              <a:t>+ online uncertainty-aware DT</a:t>
            </a:r>
            <a:br/>
            <a:r>
              <a:rPr sz="1150">
                <a:solidFill>
                  <a:srgbClr val="3A434D"/>
                </a:solidFill>
                <a:latin typeface="Arial"/>
                <a:ea typeface="Arial"/>
                <a:cs typeface="Arial"/>
              </a:rPr>
              <a:t>– high-dimensional approximations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0A4AE732-9943-435A-9E83-C5899AA176F0}"/>
              </a:ext>
            </a:extLst>
          </p:cNvPr>
          <p:cNvSpPr>
            <a:spLocks noGrp="1"/>
          </p:cNvSpPr>
          <p:nvPr/>
        </p:nvSpPr>
        <p:spPr>
          <a:xfrm>
            <a:off x="1143000" y="5440680"/>
            <a:ext cx="9921240" cy="777240"/>
          </a:xfrm>
          <a:prstGeom prst="roundRect">
            <a:avLst/>
          </a:prstGeom>
          <a:solidFill>
            <a:srgbClr val="12304A"/>
          </a:solidFill>
          <a:ln>
            <a:solidFill>
              <a:srgbClr val="123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33EEF4A-F516-4FB4-8D55-7F4E96B99E81}"/>
              </a:ext>
            </a:extLst>
          </p:cNvPr>
          <p:cNvSpPr>
            <a:spLocks noGrp="1"/>
          </p:cNvSpPr>
          <p:nvPr/>
        </p:nvSpPr>
        <p:spPr>
          <a:xfrm>
            <a:off x="1325880" y="5605272"/>
            <a:ext cx="9555480" cy="41148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ctr">
              <a:buNone/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For fracture-aware RDTs, energy-based or solver-based components are likely more suitable than relying only on residual losses.</a:t>
            </a:r>
          </a:p>
        </p:txBody>
      </p:sp>
      <p:sp>
        <p:nvSpPr>
          <p:cNvPr id="13" name="visual-enhancement-mask">
            <a:extLst>
              <a:ext uri="{FF2B5EF4-FFF2-40B4-BE49-F238E27FC236}">
                <a16:creationId xmlns:a16="http://schemas.microsoft.com/office/drawing/2014/main" id="{050D6102-C17B-4BF1-B476-DEFCF02AB1C5}"/>
              </a:ext>
            </a:extLst>
          </p:cNvPr>
          <p:cNvSpPr>
            <a:spLocks noGrp="1"/>
          </p:cNvSpPr>
          <p:nvPr/>
        </p:nvSpPr>
        <p:spPr>
          <a:xfrm>
            <a:off x="781050" y="5314950"/>
            <a:ext cx="10668000" cy="100965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visual-enhancement-fixed-bottom-message">
            <a:extLst>
              <a:ext uri="{FF2B5EF4-FFF2-40B4-BE49-F238E27FC236}">
                <a16:creationId xmlns:a16="http://schemas.microsoft.com/office/drawing/2014/main" id="{961F9899-2F67-4001-95C0-BC620061121F}"/>
              </a:ext>
            </a:extLst>
          </p:cNvPr>
          <p:cNvSpPr>
            <a:spLocks noGrp="1"/>
          </p:cNvSpPr>
          <p:nvPr/>
        </p:nvSpPr>
        <p:spPr>
          <a:xfrm>
            <a:off x="1409700" y="5524500"/>
            <a:ext cx="9372600" cy="571500"/>
          </a:xfrm>
          <a:prstGeom prst="roundRect">
            <a:avLst>
              <a:gd name="adj" fmla="val 20000"/>
            </a:avLst>
          </a:prstGeom>
          <a:solidFill>
            <a:srgbClr val="12324A"/>
          </a:solidFill>
          <a:ln w="0">
            <a:solidFill>
              <a:srgbClr val="12324A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pPr algn="ctr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Fracture-aware RDTs need energy- or solver-based physics, not residual-only losses.</a:t>
            </a:r>
          </a:p>
        </p:txBody>
      </p:sp>
    </p:spTree>
    <p:extLst>
      <p:ext uri="{BB962C8B-B14F-4D97-AF65-F5344CB8AC3E}">
        <p14:creationId xmlns:p14="http://schemas.microsoft.com/office/powerpoint/2010/main" val="14331498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D28928F-0FD3-4D95-8DE5-994690F6B1E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2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98D16CF-2190-48D1-97BB-A59B2D944578}"/>
              </a:ext>
            </a:extLst>
          </p:cNvPr>
          <p:cNvSpPr>
            <a:spLocks noGrp="1"/>
          </p:cNvSpPr>
          <p:nvPr/>
        </p:nvSpPr>
        <p:spPr>
          <a:xfrm>
            <a:off x="502920" y="310896"/>
            <a:ext cx="10698480" cy="41148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>
              <a:buNone/>
            </a:pPr>
            <a:r>
              <a:rPr sz="2400" b="1">
                <a:solidFill>
                  <a:srgbClr val="12304A"/>
                </a:solidFill>
                <a:latin typeface="Arial"/>
                <a:ea typeface="Arial"/>
                <a:cs typeface="Arial"/>
              </a:rPr>
              <a:t>6. Preliminary example: energy-based fatigue fracture learning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87A98D5-60CD-4AB8-AA4C-E80F086622CC}"/>
              </a:ext>
            </a:extLst>
          </p:cNvPr>
          <p:cNvSpPr>
            <a:spLocks noGrp="1"/>
          </p:cNvSpPr>
          <p:nvPr/>
        </p:nvSpPr>
        <p:spPr>
          <a:xfrm>
            <a:off x="530352" y="749808"/>
            <a:ext cx="10607040" cy="32004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>
              <a:buNone/>
            </a:pPr>
            <a:r>
              <a:rPr sz="1200" b="0">
                <a:solidFill>
                  <a:srgbClr val="7C8894"/>
                </a:solidFill>
                <a:latin typeface="Arial"/>
                <a:ea typeface="Arial"/>
                <a:cs typeface="Arial"/>
              </a:rPr>
              <a:t>Deep Ritz method applied to phase-field fatigue fracture and compared with FEM.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896E12C-3755-42E6-B748-826AA51C7599}"/>
              </a:ext>
            </a:extLst>
          </p:cNvPr>
          <p:cNvSpPr>
            <a:spLocks noGrp="1"/>
          </p:cNvSpPr>
          <p:nvPr/>
        </p:nvSpPr>
        <p:spPr>
          <a:xfrm>
            <a:off x="502920" y="6565392"/>
            <a:ext cx="5486400" cy="164592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>
              <a:buNone/>
            </a:pPr>
            <a:r>
              <a:rPr sz="750" b="0">
                <a:solidFill>
                  <a:srgbClr val="7C8894"/>
                </a:solidFill>
                <a:latin typeface="Arial"/>
                <a:ea typeface="Arial"/>
                <a:cs typeface="Arial"/>
              </a:rPr>
              <a:t>I3CE pre | Paper 454 | 7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59108C0-E345-4C45-8D6A-B446BA5F738C}"/>
              </a:ext>
            </a:extLst>
          </p:cNvPr>
          <p:cNvSpPr>
            <a:spLocks noGrp="1"/>
          </p:cNvSpPr>
          <p:nvPr/>
        </p:nvSpPr>
        <p:spPr>
          <a:xfrm>
            <a:off x="11292840" y="6565392"/>
            <a:ext cx="411480" cy="164592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r">
              <a:buNone/>
            </a:pPr>
            <a:r>
              <a:rPr sz="750" b="0">
                <a:solidFill>
                  <a:srgbClr val="7C8894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71DA5D1D-CCEF-4F30-94FB-81E77254A05B}"/>
              </a:ext>
            </a:extLst>
          </p:cNvPr>
          <p:cNvSpPr>
            <a:spLocks noGrp="1"/>
          </p:cNvSpPr>
          <p:nvPr/>
        </p:nvSpPr>
        <p:spPr>
          <a:xfrm>
            <a:off x="685800" y="1234440"/>
            <a:ext cx="3703320" cy="4297680"/>
          </a:xfrm>
          <a:prstGeom prst="roundRect">
            <a:avLst/>
          </a:prstGeom>
          <a:solidFill>
            <a:srgbClr val="F3F6F9"/>
          </a:solidFill>
          <a:ln w="12700">
            <a:solidFill>
              <a:srgbClr val="F3F6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46304" bIns="109728" anchor="ctr"/>
          <a:lstStyle/>
          <a:p>
            <a:pPr algn="ctr">
              <a:buNone/>
            </a:pPr>
            <a:r>
              <a:rPr sz="1500" b="1">
                <a:solidFill>
                  <a:srgbClr val="12304A"/>
                </a:solidFill>
                <a:latin typeface="Arial"/>
                <a:ea typeface="Arial"/>
                <a:cs typeface="Arial"/>
              </a:rPr>
              <a:t>Setup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161448E-511D-4963-AC73-DD313CE612DA}"/>
              </a:ext>
            </a:extLst>
          </p:cNvPr>
          <p:cNvSpPr>
            <a:spLocks noGrp="1"/>
          </p:cNvSpPr>
          <p:nvPr/>
        </p:nvSpPr>
        <p:spPr>
          <a:xfrm>
            <a:off x="1627632" y="1965960"/>
            <a:ext cx="1417320" cy="2240280"/>
          </a:xfrm>
          <a:prstGeom prst="rect">
            <a:avLst/>
          </a:prstGeom>
          <a:solidFill>
            <a:srgbClr val="FFFFFF"/>
          </a:solidFill>
          <a:ln w="19050">
            <a:solidFill>
              <a:srgbClr val="3A4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9" name="Connector 8">
            <a:extLst>
              <a:ext uri="{FF2B5EF4-FFF2-40B4-BE49-F238E27FC236}">
                <a16:creationId xmlns:a16="http://schemas.microsoft.com/office/drawing/2014/main" id="{D7196207-0006-4F11-BD00-233B388758E6}"/>
              </a:ext>
            </a:extLst>
          </p:cNvPr>
          <p:cNvSpPr>
            <a:spLocks noGrp="1"/>
          </p:cNvSpPr>
          <p:nvPr/>
        </p:nvSpPr>
        <p:spPr>
          <a:xfrm>
            <a:off x="1627632" y="3063240"/>
            <a:ext cx="640080" cy="0"/>
          </a:xfrm>
          <a:prstGeom prst="line">
            <a:avLst/>
          </a:prstGeom>
          <a:ln w="38100">
            <a:solidFill>
              <a:srgbClr val="B750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  <p:sp>
        <p:nvSpPr>
          <p:cNvPr id="10" name="Connector 9">
            <a:extLst>
              <a:ext uri="{FF2B5EF4-FFF2-40B4-BE49-F238E27FC236}">
                <a16:creationId xmlns:a16="http://schemas.microsoft.com/office/drawing/2014/main" id="{1CC3732D-514B-41B2-8498-A08E4B9543B5}"/>
              </a:ext>
            </a:extLst>
          </p:cNvPr>
          <p:cNvSpPr>
            <a:spLocks noGrp="1"/>
          </p:cNvSpPr>
          <p:nvPr/>
        </p:nvSpPr>
        <p:spPr>
          <a:xfrm flipV="1">
            <a:off x="2267712" y="2880360"/>
            <a:ext cx="429768" cy="182880"/>
          </a:xfrm>
          <a:prstGeom prst="line">
            <a:avLst/>
          </a:prstGeom>
          <a:ln w="25400">
            <a:solidFill>
              <a:srgbClr val="B750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  <p:sp>
        <p:nvSpPr>
          <p:cNvPr id="11" name="Connector 10">
            <a:extLst>
              <a:ext uri="{FF2B5EF4-FFF2-40B4-BE49-F238E27FC236}">
                <a16:creationId xmlns:a16="http://schemas.microsoft.com/office/drawing/2014/main" id="{862700AB-8222-420D-9726-2F3CC4468DDF}"/>
              </a:ext>
            </a:extLst>
          </p:cNvPr>
          <p:cNvSpPr>
            <a:spLocks noGrp="1"/>
          </p:cNvSpPr>
          <p:nvPr/>
        </p:nvSpPr>
        <p:spPr>
          <a:xfrm>
            <a:off x="2331720" y="1645920"/>
            <a:ext cx="0" cy="274320"/>
          </a:xfrm>
          <a:prstGeom prst="line">
            <a:avLst/>
          </a:prstGeom>
          <a:ln w="19050">
            <a:solidFill>
              <a:srgbClr val="2D69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  <p:sp>
        <p:nvSpPr>
          <p:cNvPr id="12" name="Connector 11">
            <a:extLst>
              <a:ext uri="{FF2B5EF4-FFF2-40B4-BE49-F238E27FC236}">
                <a16:creationId xmlns:a16="http://schemas.microsoft.com/office/drawing/2014/main" id="{56AFE162-FF21-4AD3-A420-0F81268FB581}"/>
              </a:ext>
            </a:extLst>
          </p:cNvPr>
          <p:cNvSpPr>
            <a:spLocks noGrp="1"/>
          </p:cNvSpPr>
          <p:nvPr/>
        </p:nvSpPr>
        <p:spPr>
          <a:xfrm flipV="1">
            <a:off x="2331720" y="4251960"/>
            <a:ext cx="0" cy="274320"/>
          </a:xfrm>
          <a:prstGeom prst="line">
            <a:avLst/>
          </a:prstGeom>
          <a:ln w="19050">
            <a:solidFill>
              <a:srgbClr val="2D69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2CC134A-CB0F-4410-AE1B-82F9C31BFB14}"/>
              </a:ext>
            </a:extLst>
          </p:cNvPr>
          <p:cNvSpPr>
            <a:spLocks noGrp="1"/>
          </p:cNvSpPr>
          <p:nvPr/>
        </p:nvSpPr>
        <p:spPr>
          <a:xfrm>
            <a:off x="1078992" y="4617720"/>
            <a:ext cx="2926080" cy="32004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ctr">
              <a:buNone/>
            </a:pPr>
            <a:r>
              <a:rPr sz="1050" b="0">
                <a:solidFill>
                  <a:srgbClr val="7C8894"/>
                </a:solidFill>
                <a:latin typeface="Arial"/>
                <a:ea typeface="Arial"/>
                <a:cs typeface="Arial"/>
              </a:rPr>
              <a:t>SENT specimen, displacement-controlled fatigue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89DA8EC-9BC2-430B-81D4-CFA1D4E3EF0E}"/>
              </a:ext>
            </a:extLst>
          </p:cNvPr>
          <p:cNvSpPr>
            <a:spLocks noGrp="1"/>
          </p:cNvSpPr>
          <p:nvPr/>
        </p:nvSpPr>
        <p:spPr>
          <a:xfrm>
            <a:off x="1005840" y="4983480"/>
            <a:ext cx="3063240" cy="640080"/>
          </a:xfrm>
          <a:prstGeom prst="rect">
            <a:avLst/>
          </a:prstGeom>
          <a:noFill/>
        </p:spPr>
        <p:txBody>
          <a:bodyPr wrap="square" lIns="73152" rIns="45720">
            <a:spAutoFit/>
          </a:bodyPr>
          <a:lstStyle/>
          <a:p>
            <a:pPr>
              <a:spcAft>
                <a:spcPts val="400"/>
              </a:spcAft>
              <a:buNone/>
              <a:defRPr sz="1150">
                <a:solidFill>
                  <a:srgbClr val="3A434D"/>
                </a:solidFill>
                <a:latin typeface="Arial"/>
                <a:ea typeface="Arial"/>
                <a:cs typeface="Arial"/>
              </a:defRPr>
            </a:pPr>
            <a:r>
              <a:rPr sz="1150">
                <a:solidFill>
                  <a:srgbClr val="3A434D"/>
                </a:solidFill>
                <a:latin typeface="Arial"/>
                <a:ea typeface="Arial"/>
                <a:cs typeface="Arial"/>
              </a:rPr>
              <a:t>• DRM minimises global fracture energy</a:t>
            </a:r>
          </a:p>
          <a:p>
            <a:pPr>
              <a:spcAft>
                <a:spcPts val="400"/>
              </a:spcAft>
              <a:buNone/>
              <a:defRPr sz="1150">
                <a:solidFill>
                  <a:srgbClr val="3A434D"/>
                </a:solidFill>
                <a:latin typeface="Arial"/>
                <a:ea typeface="Arial"/>
                <a:cs typeface="Arial"/>
              </a:defRPr>
            </a:pPr>
            <a:r>
              <a:rPr sz="1150">
                <a:solidFill>
                  <a:srgbClr val="3A434D"/>
                </a:solidFill>
                <a:latin typeface="Arial"/>
                <a:ea typeface="Arial"/>
                <a:cs typeface="Arial"/>
              </a:rPr>
              <a:t>• No explicit crack-tracking rule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E72C117-86E3-42A3-A553-A1A9D6865DF8}"/>
              </a:ext>
            </a:extLst>
          </p:cNvPr>
          <p:cNvSpPr>
            <a:spLocks noGrp="1"/>
          </p:cNvSpPr>
          <p:nvPr/>
        </p:nvSpPr>
        <p:spPr>
          <a:xfrm>
            <a:off x="4800600" y="1325880"/>
            <a:ext cx="6675120" cy="27432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>
              <a:buNone/>
            </a:pPr>
            <a:r>
              <a:rPr sz="1550" b="1">
                <a:solidFill>
                  <a:srgbClr val="12304A"/>
                </a:solidFill>
                <a:latin typeface="Arial"/>
                <a:ea typeface="Arial"/>
                <a:cs typeface="Arial"/>
              </a:rPr>
              <a:t>Cycles to failure: DRM vs FEM reference</a:t>
            </a:r>
          </a:p>
        </p:txBody>
      </p:sp>
      <p:graphicFrame>
        <p:nvGraphicFramePr>
          <p:cNvPr id="34" name="Table 15"/>
          <p:cNvGraphicFramePr/>
          <p:nvPr/>
        </p:nvGraphicFramePr>
        <p:xfrm>
          <a:off x="4800600" y="1783080"/>
          <a:ext cx="6080760" cy="2148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01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01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201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2019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581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Umax</a:t>
                      </a:r>
                    </a:p>
                  </a:txBody>
                  <a:tcPr marL="54864" marR="54864">
                    <a:solidFill>
                      <a:srgbClr val="1230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Nf FEM</a:t>
                      </a:r>
                    </a:p>
                  </a:txBody>
                  <a:tcPr marL="54864" marR="54864">
                    <a:solidFill>
                      <a:srgbClr val="1230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Nf DRM</a:t>
                      </a:r>
                    </a:p>
                  </a:txBody>
                  <a:tcPr marL="54864" marR="54864">
                    <a:solidFill>
                      <a:srgbClr val="1230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Error</a:t>
                      </a:r>
                    </a:p>
                  </a:txBody>
                  <a:tcPr marL="54864" marR="54864">
                    <a:solidFill>
                      <a:srgbClr val="1230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81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3A434D"/>
                          </a:solidFill>
                          <a:latin typeface="Arial"/>
                          <a:ea typeface="Arial"/>
                          <a:cs typeface="Arial"/>
                        </a:rPr>
                        <a:t>0.12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3A434D"/>
                          </a:solidFill>
                          <a:latin typeface="Arial"/>
                          <a:ea typeface="Arial"/>
                          <a:cs typeface="Arial"/>
                        </a:rPr>
                        <a:t>82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3A434D"/>
                          </a:solidFill>
                          <a:latin typeface="Arial"/>
                          <a:ea typeface="Arial"/>
                          <a:cs typeface="Arial"/>
                        </a:rPr>
                        <a:t>81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3A434D"/>
                          </a:solidFill>
                          <a:latin typeface="Arial"/>
                          <a:ea typeface="Arial"/>
                          <a:cs typeface="Arial"/>
                        </a:rPr>
                        <a:t>−1.2%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81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3A434D"/>
                          </a:solidFill>
                          <a:latin typeface="Arial"/>
                          <a:ea typeface="Arial"/>
                          <a:cs typeface="Arial"/>
                        </a:rPr>
                        <a:t>0.11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3A434D"/>
                          </a:solidFill>
                          <a:latin typeface="Arial"/>
                          <a:ea typeface="Arial"/>
                          <a:cs typeface="Arial"/>
                        </a:rPr>
                        <a:t>117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3A434D"/>
                          </a:solidFill>
                          <a:latin typeface="Arial"/>
                          <a:ea typeface="Arial"/>
                          <a:cs typeface="Arial"/>
                        </a:rPr>
                        <a:t>113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3A434D"/>
                          </a:solidFill>
                          <a:latin typeface="Arial"/>
                          <a:ea typeface="Arial"/>
                          <a:cs typeface="Arial"/>
                        </a:rPr>
                        <a:t>−3.4%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81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3A434D"/>
                          </a:solidFill>
                          <a:latin typeface="Arial"/>
                          <a:ea typeface="Arial"/>
                          <a:cs typeface="Arial"/>
                        </a:rPr>
                        <a:t>0.10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3A434D"/>
                          </a:solidFill>
                          <a:latin typeface="Arial"/>
                          <a:ea typeface="Arial"/>
                          <a:cs typeface="Arial"/>
                        </a:rPr>
                        <a:t>170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3A434D"/>
                          </a:solidFill>
                          <a:latin typeface="Arial"/>
                          <a:ea typeface="Arial"/>
                          <a:cs typeface="Arial"/>
                        </a:rPr>
                        <a:t>161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3A434D"/>
                          </a:solidFill>
                          <a:latin typeface="Arial"/>
                          <a:ea typeface="Arial"/>
                          <a:cs typeface="Arial"/>
                        </a:rPr>
                        <a:t>−5.3%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81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3A434D"/>
                          </a:solidFill>
                          <a:latin typeface="Arial"/>
                          <a:ea typeface="Arial"/>
                          <a:cs typeface="Arial"/>
                        </a:rPr>
                        <a:t>0.09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3A434D"/>
                          </a:solidFill>
                          <a:latin typeface="Arial"/>
                          <a:ea typeface="Arial"/>
                          <a:cs typeface="Arial"/>
                        </a:rPr>
                        <a:t>255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3A434D"/>
                          </a:solidFill>
                          <a:latin typeface="Arial"/>
                          <a:ea typeface="Arial"/>
                          <a:cs typeface="Arial"/>
                        </a:rPr>
                        <a:t>231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3A434D"/>
                          </a:solidFill>
                          <a:latin typeface="Arial"/>
                          <a:ea typeface="Arial"/>
                          <a:cs typeface="Arial"/>
                        </a:rPr>
                        <a:t>−9.4%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81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3A434D"/>
                          </a:solidFill>
                          <a:latin typeface="Arial"/>
                          <a:ea typeface="Arial"/>
                          <a:cs typeface="Arial"/>
                        </a:rPr>
                        <a:t>0.08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3A434D"/>
                          </a:solidFill>
                          <a:latin typeface="Arial"/>
                          <a:ea typeface="Arial"/>
                          <a:cs typeface="Arial"/>
                        </a:rPr>
                        <a:t>396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3A434D"/>
                          </a:solidFill>
                          <a:latin typeface="Arial"/>
                          <a:ea typeface="Arial"/>
                          <a:cs typeface="Arial"/>
                        </a:rPr>
                        <a:t>342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3A434D"/>
                          </a:solidFill>
                          <a:latin typeface="Arial"/>
                          <a:ea typeface="Arial"/>
                          <a:cs typeface="Arial"/>
                        </a:rPr>
                        <a:t>−13.6%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882EE7CC-1280-4E9E-9D42-5B9C187A1E1E}"/>
              </a:ext>
            </a:extLst>
          </p:cNvPr>
          <p:cNvSpPr>
            <a:spLocks noGrp="1"/>
          </p:cNvSpPr>
          <p:nvPr/>
        </p:nvSpPr>
        <p:spPr>
          <a:xfrm>
            <a:off x="4800600" y="4251960"/>
            <a:ext cx="2834640" cy="1143000"/>
          </a:xfrm>
          <a:prstGeom prst="roundRect">
            <a:avLst/>
          </a:prstGeom>
          <a:solidFill>
            <a:srgbClr val="E2F4F1"/>
          </a:solidFill>
          <a:ln w="12700">
            <a:solidFill>
              <a:srgbClr val="1E8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46304" bIns="109728" anchor="ctr"/>
          <a:lstStyle/>
          <a:p>
            <a:pPr algn="ctr">
              <a:buNone/>
            </a:pPr>
            <a:r>
              <a:rPr sz="1300" b="1">
                <a:solidFill>
                  <a:srgbClr val="1E8A8A"/>
                </a:solidFill>
                <a:latin typeface="Arial"/>
                <a:ea typeface="Arial"/>
                <a:cs typeface="Arial"/>
              </a:rPr>
              <a:t>What works</a:t>
            </a:r>
          </a:p>
          <a:p>
            <a:pPr>
              <a:spcBef>
                <a:spcPts val="600"/>
              </a:spcBef>
              <a:buNone/>
            </a:pPr>
            <a:r>
              <a:rPr sz="1150">
                <a:solidFill>
                  <a:srgbClr val="3A434D"/>
                </a:solidFill>
                <a:latin typeface="Arial"/>
                <a:ea typeface="Arial"/>
                <a:cs typeface="Arial"/>
              </a:rPr>
              <a:t>Energy formulation reproduces the S–N trend with 1–14% underestimation.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8623E6B7-BEED-4F1E-B1D1-CDB9F9F04F65}"/>
              </a:ext>
            </a:extLst>
          </p:cNvPr>
          <p:cNvSpPr>
            <a:spLocks noGrp="1"/>
          </p:cNvSpPr>
          <p:nvPr/>
        </p:nvSpPr>
        <p:spPr>
          <a:xfrm>
            <a:off x="8046720" y="4251960"/>
            <a:ext cx="2834640" cy="1143000"/>
          </a:xfrm>
          <a:prstGeom prst="roundRect">
            <a:avLst/>
          </a:prstGeom>
          <a:solidFill>
            <a:srgbClr val="FDF1DE"/>
          </a:solidFill>
          <a:ln w="12700">
            <a:solidFill>
              <a:srgbClr val="F2A5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46304" bIns="109728" anchor="ctr"/>
          <a:lstStyle/>
          <a:p>
            <a:pPr algn="ctr">
              <a:buNone/>
            </a:pPr>
            <a:r>
              <a:rPr sz="1300" b="1">
                <a:solidFill>
                  <a:srgbClr val="F2A53A"/>
                </a:solidFill>
                <a:latin typeface="Arial"/>
                <a:ea typeface="Arial"/>
                <a:cs typeface="Arial"/>
              </a:rPr>
              <a:t>What remains</a:t>
            </a:r>
          </a:p>
          <a:p>
            <a:pPr>
              <a:spcBef>
                <a:spcPts val="600"/>
              </a:spcBef>
              <a:buNone/>
            </a:pPr>
            <a:r>
              <a:rPr sz="1150">
                <a:solidFill>
                  <a:srgbClr val="3A434D"/>
                </a:solidFill>
                <a:latin typeface="Arial"/>
                <a:ea typeface="Arial"/>
                <a:cs typeface="Arial"/>
              </a:rPr>
              <a:t>Smooth MLP under-resolves the crack-tip stress concentration; enriched representations are needed.</a:t>
            </a:r>
          </a:p>
        </p:txBody>
      </p:sp>
    </p:spTree>
    <p:extLst>
      <p:ext uri="{BB962C8B-B14F-4D97-AF65-F5344CB8AC3E}">
        <p14:creationId xmlns:p14="http://schemas.microsoft.com/office/powerpoint/2010/main" val="18709455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C05FF52-7B62-4FB3-9D0F-4E6AB8B11B1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2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E9BFA8B-16CC-41B0-ADE2-7AC37E8B95F9}"/>
              </a:ext>
            </a:extLst>
          </p:cNvPr>
          <p:cNvSpPr>
            <a:spLocks noGrp="1"/>
          </p:cNvSpPr>
          <p:nvPr/>
        </p:nvSpPr>
        <p:spPr>
          <a:xfrm>
            <a:off x="502920" y="310896"/>
            <a:ext cx="10698480" cy="41148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>
              <a:buNone/>
            </a:pPr>
            <a:r>
              <a:rPr sz="2400" b="1">
                <a:solidFill>
                  <a:srgbClr val="12304A"/>
                </a:solidFill>
                <a:latin typeface="Arial"/>
                <a:ea typeface="Arial"/>
                <a:cs typeface="Arial"/>
              </a:rPr>
              <a:t>7. Implications: toward uncertainty-aware road DTs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A11FE0E-DAC7-484D-AF3A-9212FE61FC3A}"/>
              </a:ext>
            </a:extLst>
          </p:cNvPr>
          <p:cNvSpPr>
            <a:spLocks noGrp="1"/>
          </p:cNvSpPr>
          <p:nvPr/>
        </p:nvSpPr>
        <p:spPr>
          <a:xfrm>
            <a:off x="530352" y="749808"/>
            <a:ext cx="10607040" cy="32004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>
              <a:buNone/>
            </a:pPr>
            <a:r>
              <a:rPr sz="1200" b="0">
                <a:solidFill>
                  <a:srgbClr val="7C8894"/>
                </a:solidFill>
                <a:latin typeface="Arial"/>
                <a:ea typeface="Arial"/>
                <a:cs typeface="Arial"/>
              </a:rPr>
              <a:t>Inference uncertainty propagates into prognosis and maintenance decisions.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F9D83E1-9A71-43DD-AE86-BD4C588B7F8E}"/>
              </a:ext>
            </a:extLst>
          </p:cNvPr>
          <p:cNvSpPr>
            <a:spLocks noGrp="1"/>
          </p:cNvSpPr>
          <p:nvPr/>
        </p:nvSpPr>
        <p:spPr>
          <a:xfrm>
            <a:off x="502920" y="6565392"/>
            <a:ext cx="5486400" cy="164592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>
              <a:buNone/>
            </a:pPr>
            <a:r>
              <a:rPr sz="750" b="0">
                <a:solidFill>
                  <a:srgbClr val="7C8894"/>
                </a:solidFill>
                <a:latin typeface="Arial"/>
                <a:ea typeface="Arial"/>
                <a:cs typeface="Arial"/>
              </a:rPr>
              <a:t>I3CE pre | Paper 454 | 8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1A767E0-AD1F-4432-A092-1F35CF37AA44}"/>
              </a:ext>
            </a:extLst>
          </p:cNvPr>
          <p:cNvSpPr>
            <a:spLocks noGrp="1"/>
          </p:cNvSpPr>
          <p:nvPr/>
        </p:nvSpPr>
        <p:spPr>
          <a:xfrm>
            <a:off x="11292840" y="6565392"/>
            <a:ext cx="411480" cy="164592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r">
              <a:buNone/>
            </a:pPr>
            <a:r>
              <a:rPr sz="750" b="0">
                <a:solidFill>
                  <a:srgbClr val="7C8894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D8610AA8-6B42-426D-8588-94E04E68EB98}"/>
              </a:ext>
            </a:extLst>
          </p:cNvPr>
          <p:cNvSpPr>
            <a:spLocks noGrp="1"/>
          </p:cNvSpPr>
          <p:nvPr/>
        </p:nvSpPr>
        <p:spPr>
          <a:xfrm>
            <a:off x="777240" y="1463040"/>
            <a:ext cx="2057400" cy="1143000"/>
          </a:xfrm>
          <a:prstGeom prst="roundRect">
            <a:avLst/>
          </a:prstGeom>
          <a:solidFill>
            <a:srgbClr val="E4EFF9"/>
          </a:solidFill>
          <a:ln w="12700">
            <a:solidFill>
              <a:srgbClr val="2D69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46304" bIns="109728" anchor="ctr"/>
          <a:lstStyle/>
          <a:p>
            <a:pPr algn="ctr">
              <a:buNone/>
            </a:pPr>
            <a:r>
              <a:rPr sz="1450" b="1">
                <a:solidFill>
                  <a:srgbClr val="12304A"/>
                </a:solidFill>
                <a:latin typeface="Arial"/>
                <a:ea typeface="Arial"/>
                <a:cs typeface="Arial"/>
              </a:rPr>
              <a:t>Observation
uncertainty</a:t>
            </a:r>
          </a:p>
        </p:txBody>
      </p:sp>
      <p:sp>
        <p:nvSpPr>
          <p:cNvPr id="8" name="Connector 7">
            <a:extLst>
              <a:ext uri="{FF2B5EF4-FFF2-40B4-BE49-F238E27FC236}">
                <a16:creationId xmlns:a16="http://schemas.microsoft.com/office/drawing/2014/main" id="{03948DE7-382B-4294-9E4F-82E4F8C13845}"/>
              </a:ext>
            </a:extLst>
          </p:cNvPr>
          <p:cNvSpPr>
            <a:spLocks noGrp="1"/>
          </p:cNvSpPr>
          <p:nvPr/>
        </p:nvSpPr>
        <p:spPr>
          <a:xfrm>
            <a:off x="2898648" y="2039112"/>
            <a:ext cx="457200" cy="0"/>
          </a:xfrm>
          <a:prstGeom prst="line">
            <a:avLst/>
          </a:prstGeom>
          <a:ln w="25400">
            <a:solidFill>
              <a:srgbClr val="7C889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7DD8FF0E-3226-4391-ADDB-5D4A18B2ECEC}"/>
              </a:ext>
            </a:extLst>
          </p:cNvPr>
          <p:cNvSpPr>
            <a:spLocks noGrp="1"/>
          </p:cNvSpPr>
          <p:nvPr/>
        </p:nvSpPr>
        <p:spPr>
          <a:xfrm>
            <a:off x="3429000" y="1463040"/>
            <a:ext cx="2057400" cy="1143000"/>
          </a:xfrm>
          <a:prstGeom prst="roundRect">
            <a:avLst/>
          </a:prstGeom>
          <a:solidFill>
            <a:srgbClr val="FDF1DE"/>
          </a:solidFill>
          <a:ln w="12700">
            <a:solidFill>
              <a:srgbClr val="F2A5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46304" bIns="109728" anchor="ctr"/>
          <a:lstStyle/>
          <a:p>
            <a:pPr algn="ctr">
              <a:buNone/>
            </a:pPr>
            <a:r>
              <a:rPr sz="1450" b="1">
                <a:solidFill>
                  <a:srgbClr val="12304A"/>
                </a:solidFill>
                <a:latin typeface="Arial"/>
                <a:ea typeface="Arial"/>
                <a:cs typeface="Arial"/>
              </a:rPr>
              <a:t>State-inference
uncertainty</a:t>
            </a:r>
          </a:p>
        </p:txBody>
      </p:sp>
      <p:sp>
        <p:nvSpPr>
          <p:cNvPr id="10" name="Connector 9">
            <a:extLst>
              <a:ext uri="{FF2B5EF4-FFF2-40B4-BE49-F238E27FC236}">
                <a16:creationId xmlns:a16="http://schemas.microsoft.com/office/drawing/2014/main" id="{8F356D27-D6B7-4BDC-BDE1-07875555568C}"/>
              </a:ext>
            </a:extLst>
          </p:cNvPr>
          <p:cNvSpPr>
            <a:spLocks noGrp="1"/>
          </p:cNvSpPr>
          <p:nvPr/>
        </p:nvSpPr>
        <p:spPr>
          <a:xfrm>
            <a:off x="5550408" y="2039112"/>
            <a:ext cx="457200" cy="0"/>
          </a:xfrm>
          <a:prstGeom prst="line">
            <a:avLst/>
          </a:prstGeom>
          <a:ln w="25400">
            <a:solidFill>
              <a:srgbClr val="7C889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FFE11762-4038-49C7-830A-182A8EE63840}"/>
              </a:ext>
            </a:extLst>
          </p:cNvPr>
          <p:cNvSpPr>
            <a:spLocks noGrp="1"/>
          </p:cNvSpPr>
          <p:nvPr/>
        </p:nvSpPr>
        <p:spPr>
          <a:xfrm>
            <a:off x="6080760" y="1463040"/>
            <a:ext cx="2057400" cy="1143000"/>
          </a:xfrm>
          <a:prstGeom prst="roundRect">
            <a:avLst/>
          </a:prstGeom>
          <a:solidFill>
            <a:srgbClr val="E2F4F1"/>
          </a:solidFill>
          <a:ln w="12700">
            <a:solidFill>
              <a:srgbClr val="1E8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46304" bIns="109728" anchor="ctr"/>
          <a:lstStyle/>
          <a:p>
            <a:pPr algn="ctr">
              <a:buNone/>
            </a:pPr>
            <a:r>
              <a:rPr sz="1450" b="1">
                <a:solidFill>
                  <a:srgbClr val="12304A"/>
                </a:solidFill>
                <a:latin typeface="Arial"/>
                <a:ea typeface="Arial"/>
                <a:cs typeface="Arial"/>
              </a:rPr>
              <a:t>Prognostic
uncertainty</a:t>
            </a:r>
          </a:p>
        </p:txBody>
      </p:sp>
      <p:sp>
        <p:nvSpPr>
          <p:cNvPr id="12" name="Connector 11">
            <a:extLst>
              <a:ext uri="{FF2B5EF4-FFF2-40B4-BE49-F238E27FC236}">
                <a16:creationId xmlns:a16="http://schemas.microsoft.com/office/drawing/2014/main" id="{9B613B87-354B-4A8A-B435-E82EB7C6F27A}"/>
              </a:ext>
            </a:extLst>
          </p:cNvPr>
          <p:cNvSpPr>
            <a:spLocks noGrp="1"/>
          </p:cNvSpPr>
          <p:nvPr/>
        </p:nvSpPr>
        <p:spPr>
          <a:xfrm>
            <a:off x="8202168" y="2039112"/>
            <a:ext cx="457200" cy="0"/>
          </a:xfrm>
          <a:prstGeom prst="line">
            <a:avLst/>
          </a:prstGeom>
          <a:ln w="25400">
            <a:solidFill>
              <a:srgbClr val="7C889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C837E275-A1F9-45F7-8B55-CCC4AD32BA14}"/>
              </a:ext>
            </a:extLst>
          </p:cNvPr>
          <p:cNvSpPr>
            <a:spLocks noGrp="1"/>
          </p:cNvSpPr>
          <p:nvPr/>
        </p:nvSpPr>
        <p:spPr>
          <a:xfrm>
            <a:off x="8732520" y="1463040"/>
            <a:ext cx="2057400" cy="1143000"/>
          </a:xfrm>
          <a:prstGeom prst="roundRect">
            <a:avLst/>
          </a:prstGeom>
          <a:solidFill>
            <a:srgbClr val="E8F2E8"/>
          </a:solidFill>
          <a:ln w="12700">
            <a:solidFill>
              <a:srgbClr val="5E97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46304" bIns="109728" anchor="ctr"/>
          <a:lstStyle/>
          <a:p>
            <a:pPr algn="ctr">
              <a:buNone/>
            </a:pPr>
            <a:r>
              <a:rPr sz="1450" b="1">
                <a:solidFill>
                  <a:srgbClr val="12304A"/>
                </a:solidFill>
                <a:latin typeface="Arial"/>
                <a:ea typeface="Arial"/>
                <a:cs typeface="Arial"/>
              </a:rPr>
              <a:t>Decision
risk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45E9CEFC-E21E-4B38-B550-E73DF62BBBE1}"/>
              </a:ext>
            </a:extLst>
          </p:cNvPr>
          <p:cNvSpPr>
            <a:spLocks noGrp="1"/>
          </p:cNvSpPr>
          <p:nvPr/>
        </p:nvSpPr>
        <p:spPr>
          <a:xfrm>
            <a:off x="868680" y="3657600"/>
            <a:ext cx="315468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3F6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46304" bIns="109728" anchor="ctr"/>
          <a:lstStyle/>
          <a:p>
            <a:pPr algn="ctr">
              <a:buNone/>
            </a:pPr>
            <a:r>
              <a:rPr sz="1500" b="1">
                <a:solidFill>
                  <a:srgbClr val="2D69A0"/>
                </a:solidFill>
                <a:latin typeface="Arial"/>
                <a:ea typeface="Arial"/>
                <a:cs typeface="Arial"/>
              </a:rPr>
              <a:t>Take-home 1</a:t>
            </a:r>
          </a:p>
          <a:p>
            <a:pPr>
              <a:spcBef>
                <a:spcPts val="600"/>
              </a:spcBef>
              <a:buNone/>
            </a:pPr>
            <a:r>
              <a:rPr sz="1200">
                <a:solidFill>
                  <a:srgbClr val="3A434D"/>
                </a:solidFill>
                <a:latin typeface="Arial"/>
                <a:ea typeface="Arial"/>
                <a:cs typeface="Arial"/>
              </a:rPr>
              <a:t>RDTs need to infer hidden mechanical states, not only monitor surface condition.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F3A7BCFF-F221-441B-9C31-D9AB8F123E4D}"/>
              </a:ext>
            </a:extLst>
          </p:cNvPr>
          <p:cNvSpPr>
            <a:spLocks noGrp="1"/>
          </p:cNvSpPr>
          <p:nvPr/>
        </p:nvSpPr>
        <p:spPr>
          <a:xfrm>
            <a:off x="4526280" y="3657600"/>
            <a:ext cx="315468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3F6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46304" bIns="109728" anchor="ctr"/>
          <a:lstStyle/>
          <a:p>
            <a:pPr algn="ctr">
              <a:buNone/>
            </a:pPr>
            <a:r>
              <a:rPr sz="1500" b="1">
                <a:solidFill>
                  <a:srgbClr val="F2A53A"/>
                </a:solidFill>
                <a:latin typeface="Arial"/>
                <a:ea typeface="Arial"/>
                <a:cs typeface="Arial"/>
              </a:rPr>
              <a:t>Take-home 2</a:t>
            </a:r>
          </a:p>
          <a:p>
            <a:pPr>
              <a:spcBef>
                <a:spcPts val="600"/>
              </a:spcBef>
              <a:buNone/>
            </a:pPr>
            <a:r>
              <a:rPr sz="1200">
                <a:solidFill>
                  <a:srgbClr val="3A434D"/>
                </a:solidFill>
                <a:latin typeface="Arial"/>
                <a:ea typeface="Arial"/>
                <a:cs typeface="Arial"/>
              </a:rPr>
              <a:t>M2S inference is ill-posed, so physics and uncertainty treatment are essential.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92AB0759-EDAC-438E-9888-44146658B4FE}"/>
              </a:ext>
            </a:extLst>
          </p:cNvPr>
          <p:cNvSpPr>
            <a:spLocks noGrp="1"/>
          </p:cNvSpPr>
          <p:nvPr/>
        </p:nvSpPr>
        <p:spPr>
          <a:xfrm>
            <a:off x="8183879" y="3657600"/>
            <a:ext cx="315468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3F6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46304" bIns="109728" anchor="ctr"/>
          <a:lstStyle/>
          <a:p>
            <a:pPr algn="ctr">
              <a:buNone/>
            </a:pPr>
            <a:r>
              <a:rPr sz="1500" b="1">
                <a:solidFill>
                  <a:srgbClr val="1E8A8A"/>
                </a:solidFill>
                <a:latin typeface="Arial"/>
                <a:ea typeface="Arial"/>
                <a:cs typeface="Arial"/>
              </a:rPr>
              <a:t>Take-home 3</a:t>
            </a:r>
          </a:p>
          <a:p>
            <a:pPr>
              <a:spcBef>
                <a:spcPts val="600"/>
              </a:spcBef>
              <a:buNone/>
            </a:pPr>
            <a:r>
              <a:rPr sz="1200">
                <a:solidFill>
                  <a:srgbClr val="3A434D"/>
                </a:solidFill>
                <a:latin typeface="Arial"/>
                <a:ea typeface="Arial"/>
                <a:cs typeface="Arial"/>
              </a:rPr>
              <a:t>For fracture-aware DTs, the physics-injection point matters.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1F64C588-C26A-4550-9734-CB76913D2E43}"/>
              </a:ext>
            </a:extLst>
          </p:cNvPr>
          <p:cNvSpPr>
            <a:spLocks noGrp="1"/>
          </p:cNvSpPr>
          <p:nvPr/>
        </p:nvSpPr>
        <p:spPr>
          <a:xfrm>
            <a:off x="1234440" y="5623560"/>
            <a:ext cx="9738360" cy="594360"/>
          </a:xfrm>
          <a:prstGeom prst="roundRect">
            <a:avLst/>
          </a:prstGeom>
          <a:solidFill>
            <a:srgbClr val="12304A"/>
          </a:solidFill>
          <a:ln>
            <a:solidFill>
              <a:srgbClr val="123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9B9A059-1188-4D29-B5C2-793196C17FA5}"/>
              </a:ext>
            </a:extLst>
          </p:cNvPr>
          <p:cNvSpPr>
            <a:spLocks noGrp="1"/>
          </p:cNvSpPr>
          <p:nvPr/>
        </p:nvSpPr>
        <p:spPr>
          <a:xfrm>
            <a:off x="1417320" y="5742432"/>
            <a:ext cx="9372600" cy="256032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ctr">
              <a:buNone/>
            </a:pPr>
            <a:r>
              <a:rPr sz="1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Thank you — I welcome your questions.</a:t>
            </a:r>
          </a:p>
        </p:txBody>
      </p:sp>
      <p:pic>
        <p:nvPicPr>
          <p:cNvPr id="37" name="Picture 3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388494" y="381000"/>
            <a:ext cx="2939761" cy="333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22331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9E6A148-FB26-45C4-B0CD-78708D6375B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6581720-357D-49DC-899A-1130F27BA8FE}"/>
              </a:ext>
            </a:extLst>
          </p:cNvPr>
          <p:cNvSpPr>
            <a:spLocks noGrp="1"/>
          </p:cNvSpPr>
          <p:nvPr/>
        </p:nvSpPr>
        <p:spPr>
          <a:xfrm>
            <a:off x="960120" y="2377440"/>
            <a:ext cx="10241280" cy="73152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ctr">
              <a:buNone/>
            </a:pPr>
            <a:r>
              <a:rPr sz="3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Backup slides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5B8F312-8CDE-4A68-938D-4B9DD4C5362A}"/>
              </a:ext>
            </a:extLst>
          </p:cNvPr>
          <p:cNvSpPr>
            <a:spLocks noGrp="1"/>
          </p:cNvSpPr>
          <p:nvPr/>
        </p:nvSpPr>
        <p:spPr>
          <a:xfrm>
            <a:off x="960120" y="3246120"/>
            <a:ext cx="10241280" cy="41148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ctr">
              <a:buNone/>
            </a:pPr>
            <a:r>
              <a:rPr sz="1800" b="0">
                <a:solidFill>
                  <a:srgbClr val="D2DCE6"/>
                </a:solidFill>
                <a:latin typeface="Arial"/>
                <a:ea typeface="Arial"/>
                <a:cs typeface="Arial"/>
              </a:rPr>
              <a:t>for technical Q&amp;A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1877DCE-3C5F-43EB-8EA7-D77C10CAF278}"/>
              </a:ext>
            </a:extLst>
          </p:cNvPr>
          <p:cNvSpPr>
            <a:spLocks noGrp="1"/>
          </p:cNvSpPr>
          <p:nvPr/>
        </p:nvSpPr>
        <p:spPr>
          <a:xfrm>
            <a:off x="502920" y="6565392"/>
            <a:ext cx="5486400" cy="164592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>
              <a:buNone/>
            </a:pPr>
            <a:r>
              <a:rPr sz="750" b="0">
                <a:solidFill>
                  <a:srgbClr val="7C8894"/>
                </a:solidFill>
                <a:latin typeface="Arial"/>
                <a:ea typeface="Arial"/>
                <a:cs typeface="Arial"/>
              </a:rPr>
              <a:t>I3CE pre | Paper 454 | Backup 9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CA42ECD-F894-4374-B26E-618964F92AFB}"/>
              </a:ext>
            </a:extLst>
          </p:cNvPr>
          <p:cNvSpPr>
            <a:spLocks noGrp="1"/>
          </p:cNvSpPr>
          <p:nvPr/>
        </p:nvSpPr>
        <p:spPr>
          <a:xfrm>
            <a:off x="11292840" y="6565392"/>
            <a:ext cx="411480" cy="164592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r">
              <a:buNone/>
            </a:pPr>
            <a:r>
              <a:rPr sz="750" b="0">
                <a:solidFill>
                  <a:srgbClr val="7C8894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5503540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34132B9-7129-480A-ADD4-16040A4446E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2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0D6EC49-D258-4593-B704-C1EB706951EA}"/>
              </a:ext>
            </a:extLst>
          </p:cNvPr>
          <p:cNvSpPr>
            <a:spLocks noGrp="1"/>
          </p:cNvSpPr>
          <p:nvPr/>
        </p:nvSpPr>
        <p:spPr>
          <a:xfrm>
            <a:off x="502920" y="310896"/>
            <a:ext cx="10698480" cy="41148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>
              <a:buNone/>
            </a:pPr>
            <a:r>
              <a:rPr sz="2400" b="1">
                <a:solidFill>
                  <a:srgbClr val="12304A"/>
                </a:solidFill>
                <a:latin typeface="Arial"/>
                <a:ea typeface="Arial"/>
                <a:cs typeface="Arial"/>
              </a:rPr>
              <a:t>Backup A. Observation sources in the RDT loop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612BBB3-0A9D-445D-BFBF-E062C9D525ED}"/>
              </a:ext>
            </a:extLst>
          </p:cNvPr>
          <p:cNvSpPr>
            <a:spLocks noGrp="1"/>
          </p:cNvSpPr>
          <p:nvPr/>
        </p:nvSpPr>
        <p:spPr>
          <a:xfrm>
            <a:off x="530352" y="749808"/>
            <a:ext cx="10607040" cy="32004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>
              <a:buNone/>
            </a:pPr>
            <a:r>
              <a:rPr sz="1200" b="0">
                <a:solidFill>
                  <a:srgbClr val="7C8894"/>
                </a:solidFill>
                <a:latin typeface="Arial"/>
                <a:ea typeface="Arial"/>
                <a:cs typeface="Arial"/>
              </a:rPr>
              <a:t>Each modality is informative for some states but introduces specific bias and uncertainty.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7E390B4-2770-437C-864E-4722C8EECEE9}"/>
              </a:ext>
            </a:extLst>
          </p:cNvPr>
          <p:cNvSpPr>
            <a:spLocks noGrp="1"/>
          </p:cNvSpPr>
          <p:nvPr/>
        </p:nvSpPr>
        <p:spPr>
          <a:xfrm>
            <a:off x="502920" y="6565392"/>
            <a:ext cx="5486400" cy="164592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>
              <a:buNone/>
            </a:pPr>
            <a:r>
              <a:rPr sz="750" b="0">
                <a:solidFill>
                  <a:srgbClr val="7C8894"/>
                </a:solidFill>
                <a:latin typeface="Arial"/>
                <a:ea typeface="Arial"/>
                <a:cs typeface="Arial"/>
              </a:rPr>
              <a:t>I3CE pre | Paper 454 | 10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658AD6E-325E-4968-B5DC-A8495863E587}"/>
              </a:ext>
            </a:extLst>
          </p:cNvPr>
          <p:cNvSpPr>
            <a:spLocks noGrp="1"/>
          </p:cNvSpPr>
          <p:nvPr/>
        </p:nvSpPr>
        <p:spPr>
          <a:xfrm>
            <a:off x="11292840" y="6565392"/>
            <a:ext cx="411480" cy="164592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r">
              <a:buNone/>
            </a:pPr>
            <a:r>
              <a:rPr sz="750" b="0">
                <a:solidFill>
                  <a:srgbClr val="7C8894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graphicFrame>
        <p:nvGraphicFramePr>
          <p:cNvPr id="15" name="Table 6"/>
          <p:cNvGraphicFramePr/>
          <p:nvPr/>
        </p:nvGraphicFramePr>
        <p:xfrm>
          <a:off x="685800" y="1325880"/>
          <a:ext cx="10835640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83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5953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Modality</a:t>
                      </a:r>
                    </a:p>
                  </a:txBody>
                  <a:tcPr marL="82296" marR="82296">
                    <a:solidFill>
                      <a:srgbClr val="12304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Measured quantity</a:t>
                      </a:r>
                    </a:p>
                  </a:txBody>
                  <a:tcPr marL="82296" marR="82296">
                    <a:solidFill>
                      <a:srgbClr val="12304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Typical noise / bias</a:t>
                      </a:r>
                    </a:p>
                  </a:txBody>
                  <a:tcPr marL="82296" marR="82296">
                    <a:solidFill>
                      <a:srgbClr val="1230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5953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3A434D"/>
                          </a:solidFill>
                          <a:latin typeface="Arial"/>
                          <a:ea typeface="Arial"/>
                          <a:cs typeface="Arial"/>
                        </a:rPr>
                        <a:t>Camera / LCMS</a:t>
                      </a:r>
                    </a:p>
                  </a:txBody>
                  <a:tcPr marL="82296" marR="8229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3A434D"/>
                          </a:solidFill>
                          <a:latin typeface="Arial"/>
                          <a:ea typeface="Arial"/>
                          <a:cs typeface="Arial"/>
                        </a:rPr>
                        <a:t>surface cracking, rutting, roughness</a:t>
                      </a:r>
                    </a:p>
                  </a:txBody>
                  <a:tcPr marL="82296" marR="8229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3A434D"/>
                          </a:solidFill>
                          <a:latin typeface="Arial"/>
                          <a:ea typeface="Arial"/>
                          <a:cs typeface="Arial"/>
                        </a:rPr>
                        <a:t>occlusion, illumination, wetness, calibration drift</a:t>
                      </a:r>
                    </a:p>
                  </a:txBody>
                  <a:tcPr marL="82296" marR="8229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5953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3A434D"/>
                          </a:solidFill>
                          <a:latin typeface="Arial"/>
                          <a:ea typeface="Arial"/>
                          <a:cs typeface="Arial"/>
                        </a:rPr>
                        <a:t>FWD / TSD</a:t>
                      </a:r>
                    </a:p>
                  </a:txBody>
                  <a:tcPr marL="82296" marR="82296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3A434D"/>
                          </a:solidFill>
                          <a:latin typeface="Arial"/>
                          <a:ea typeface="Arial"/>
                          <a:cs typeface="Arial"/>
                        </a:rPr>
                        <a:t>deflection basin under load</a:t>
                      </a:r>
                    </a:p>
                  </a:txBody>
                  <a:tcPr marL="82296" marR="82296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3A434D"/>
                          </a:solidFill>
                          <a:latin typeface="Arial"/>
                          <a:ea typeface="Arial"/>
                          <a:cs typeface="Arial"/>
                        </a:rPr>
                        <a:t>temperature, load variability, support-condition confounding</a:t>
                      </a:r>
                    </a:p>
                  </a:txBody>
                  <a:tcPr marL="82296" marR="82296">
                    <a:solidFill>
                      <a:srgbClr val="F3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5953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3A434D"/>
                          </a:solidFill>
                          <a:latin typeface="Arial"/>
                          <a:ea typeface="Arial"/>
                          <a:cs typeface="Arial"/>
                        </a:rPr>
                        <a:t>GPR</a:t>
                      </a:r>
                    </a:p>
                  </a:txBody>
                  <a:tcPr marL="82296" marR="8229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3A434D"/>
                          </a:solidFill>
                          <a:latin typeface="Arial"/>
                          <a:ea typeface="Arial"/>
                          <a:cs typeface="Arial"/>
                        </a:rPr>
                        <a:t>layer interface, moisture anomalies</a:t>
                      </a:r>
                    </a:p>
                  </a:txBody>
                  <a:tcPr marL="82296" marR="8229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3A434D"/>
                          </a:solidFill>
                          <a:latin typeface="Arial"/>
                          <a:ea typeface="Arial"/>
                          <a:cs typeface="Arial"/>
                        </a:rPr>
                        <a:t>calibration, dielectric assumptions, EM variability</a:t>
                      </a:r>
                    </a:p>
                  </a:txBody>
                  <a:tcPr marL="82296" marR="8229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5953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3A434D"/>
                          </a:solidFill>
                          <a:latin typeface="Arial"/>
                          <a:ea typeface="Arial"/>
                          <a:cs typeface="Arial"/>
                        </a:rPr>
                        <a:t>Traffic / temperature</a:t>
                      </a:r>
                    </a:p>
                  </a:txBody>
                  <a:tcPr marL="82296" marR="82296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3A434D"/>
                          </a:solidFill>
                          <a:latin typeface="Arial"/>
                          <a:ea typeface="Arial"/>
                          <a:cs typeface="Arial"/>
                        </a:rPr>
                        <a:t>load proxies, thermal state</a:t>
                      </a:r>
                    </a:p>
                  </a:txBody>
                  <a:tcPr marL="82296" marR="82296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3A434D"/>
                          </a:solidFill>
                          <a:latin typeface="Arial"/>
                          <a:ea typeface="Arial"/>
                          <a:cs typeface="Arial"/>
                        </a:rPr>
                        <a:t>sparsity, aggregation bias</a:t>
                      </a:r>
                    </a:p>
                  </a:txBody>
                  <a:tcPr marL="82296" marR="82296">
                    <a:solidFill>
                      <a:srgbClr val="F3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C2ACCABC-A04C-4356-9F0F-6F64F632D7EB}"/>
              </a:ext>
            </a:extLst>
          </p:cNvPr>
          <p:cNvSpPr>
            <a:spLocks noGrp="1"/>
          </p:cNvSpPr>
          <p:nvPr/>
        </p:nvSpPr>
        <p:spPr>
          <a:xfrm>
            <a:off x="777240" y="5897880"/>
            <a:ext cx="10698480" cy="32004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ctr">
              <a:buNone/>
            </a:pPr>
            <a:r>
              <a:rPr sz="1200" b="0">
                <a:solidFill>
                  <a:srgbClr val="7C8894"/>
                </a:solidFill>
                <a:latin typeface="Arial"/>
                <a:ea typeface="Arial"/>
                <a:cs typeface="Arial"/>
              </a:rPr>
              <a:t>Use this slide if someone asks how the framework connects to real sensing technologies.</a:t>
            </a:r>
          </a:p>
        </p:txBody>
      </p:sp>
    </p:spTree>
    <p:extLst>
      <p:ext uri="{BB962C8B-B14F-4D97-AF65-F5344CB8AC3E}">
        <p14:creationId xmlns:p14="http://schemas.microsoft.com/office/powerpoint/2010/main" val="14089477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FEE4B72-9F0B-4E95-839D-2912CAF1849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2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5D584F5-C129-4467-96EE-F12CE0C50B0F}"/>
              </a:ext>
            </a:extLst>
          </p:cNvPr>
          <p:cNvSpPr>
            <a:spLocks noGrp="1"/>
          </p:cNvSpPr>
          <p:nvPr/>
        </p:nvSpPr>
        <p:spPr>
          <a:xfrm>
            <a:off x="502920" y="310896"/>
            <a:ext cx="10698480" cy="41148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>
              <a:buNone/>
            </a:pPr>
            <a:r>
              <a:rPr sz="2400" b="1">
                <a:solidFill>
                  <a:srgbClr val="12304A"/>
                </a:solidFill>
                <a:latin typeface="Arial"/>
                <a:ea typeface="Arial"/>
                <a:cs typeface="Arial"/>
              </a:rPr>
              <a:t>Backup B. M2S formalisation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342FBC6-8FE6-4DAC-BDC2-1C6DAB2D6441}"/>
              </a:ext>
            </a:extLst>
          </p:cNvPr>
          <p:cNvSpPr>
            <a:spLocks noGrp="1"/>
          </p:cNvSpPr>
          <p:nvPr/>
        </p:nvSpPr>
        <p:spPr>
          <a:xfrm>
            <a:off x="530352" y="749808"/>
            <a:ext cx="10607040" cy="32004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>
              <a:buNone/>
            </a:pPr>
            <a:r>
              <a:rPr sz="1200" b="0">
                <a:solidFill>
                  <a:srgbClr val="7C8894"/>
                </a:solidFill>
                <a:latin typeface="Arial"/>
                <a:ea typeface="Arial"/>
                <a:cs typeface="Arial"/>
              </a:rPr>
              <a:t>The inverse problem is about recovering a posterior over latent states, not only a point estimate.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7A95839-672A-4A21-A505-DD542D99A88D}"/>
              </a:ext>
            </a:extLst>
          </p:cNvPr>
          <p:cNvSpPr>
            <a:spLocks noGrp="1"/>
          </p:cNvSpPr>
          <p:nvPr/>
        </p:nvSpPr>
        <p:spPr>
          <a:xfrm>
            <a:off x="502920" y="6565392"/>
            <a:ext cx="5486400" cy="164592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>
              <a:buNone/>
            </a:pPr>
            <a:r>
              <a:rPr sz="750" b="0">
                <a:solidFill>
                  <a:srgbClr val="7C8894"/>
                </a:solidFill>
                <a:latin typeface="Arial"/>
                <a:ea typeface="Arial"/>
                <a:cs typeface="Arial"/>
              </a:rPr>
              <a:t>I3CE pre | Paper 454 | 11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965A1DA-5FC9-431E-8293-ADA2D4B30BED}"/>
              </a:ext>
            </a:extLst>
          </p:cNvPr>
          <p:cNvSpPr>
            <a:spLocks noGrp="1"/>
          </p:cNvSpPr>
          <p:nvPr/>
        </p:nvSpPr>
        <p:spPr>
          <a:xfrm>
            <a:off x="11292840" y="6565392"/>
            <a:ext cx="411480" cy="164592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r">
              <a:buNone/>
            </a:pPr>
            <a:r>
              <a:rPr sz="750" b="0">
                <a:solidFill>
                  <a:srgbClr val="7C8894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1CC669D9-FEA4-410B-95EC-8E849AE620C6}"/>
              </a:ext>
            </a:extLst>
          </p:cNvPr>
          <p:cNvSpPr>
            <a:spLocks noGrp="1"/>
          </p:cNvSpPr>
          <p:nvPr/>
        </p:nvSpPr>
        <p:spPr>
          <a:xfrm>
            <a:off x="777240" y="1325880"/>
            <a:ext cx="5166360" cy="4251960"/>
          </a:xfrm>
          <a:prstGeom prst="roundRect">
            <a:avLst/>
          </a:prstGeom>
          <a:solidFill>
            <a:srgbClr val="F3F6F9"/>
          </a:solidFill>
          <a:ln w="12700">
            <a:solidFill>
              <a:srgbClr val="F3F6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46304" bIns="109728" anchor="ctr"/>
          <a:lstStyle/>
          <a:p>
            <a:pPr algn="ctr">
              <a:buNone/>
            </a:pPr>
            <a:r>
              <a:rPr sz="1500" b="1">
                <a:solidFill>
                  <a:srgbClr val="12304A"/>
                </a:solidFill>
                <a:latin typeface="Arial"/>
                <a:ea typeface="Arial"/>
                <a:cs typeface="Arial"/>
              </a:rPr>
              <a:t>State-space view</a:t>
            </a:r>
          </a:p>
          <a:p>
            <a:pPr>
              <a:spcBef>
                <a:spcPts val="600"/>
              </a:spcBef>
              <a:buNone/>
            </a:pPr>
            <a:r>
              <a:rPr sz="1600">
                <a:solidFill>
                  <a:srgbClr val="3A434D"/>
                </a:solidFill>
                <a:latin typeface="Arial"/>
                <a:ea typeface="Arial"/>
                <a:cs typeface="Arial"/>
              </a:rPr>
              <a:t>Latent state: xₖ</a:t>
            </a:r>
            <a:br/>
            <a:r>
              <a:rPr sz="1600">
                <a:solidFill>
                  <a:srgbClr val="3A434D"/>
                </a:solidFill>
                <a:latin typeface="Arial"/>
                <a:ea typeface="Arial"/>
                <a:cs typeface="Arial"/>
              </a:rPr>
              <a:t>Observations: yₖ</a:t>
            </a:r>
            <a:br/>
            <a:r>
              <a:rPr sz="1600">
                <a:solidFill>
                  <a:srgbClr val="3A434D"/>
                </a:solidFill>
                <a:latin typeface="Arial"/>
                <a:ea typeface="Arial"/>
                <a:cs typeface="Arial"/>
              </a:rPr>
              <a:t>Actions: aₖ</a:t>
            </a:r>
            <a:br/>
            <a:r>
              <a:rPr sz="1600">
                <a:solidFill>
                  <a:srgbClr val="3A434D"/>
                </a:solidFill>
                <a:latin typeface="Arial"/>
                <a:ea typeface="Arial"/>
                <a:cs typeface="Arial"/>
              </a:rPr>
              <a:t>Observation model: yₖ = ℋ(xₖ) + εₖ</a:t>
            </a:r>
            <a:br/>
            <a:r>
              <a:rPr sz="1600">
                <a:solidFill>
                  <a:srgbClr val="3A434D"/>
                </a:solidFill>
                <a:latin typeface="Arial"/>
                <a:ea typeface="Arial"/>
                <a:cs typeface="Arial"/>
              </a:rPr>
              <a:t>Inference target: p(xₖ | y₁:ₖ)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21EF054F-6D07-4780-B651-A8B7D55C8AA3}"/>
              </a:ext>
            </a:extLst>
          </p:cNvPr>
          <p:cNvSpPr>
            <a:spLocks noGrp="1"/>
          </p:cNvSpPr>
          <p:nvPr/>
        </p:nvSpPr>
        <p:spPr>
          <a:xfrm>
            <a:off x="6446520" y="1325880"/>
            <a:ext cx="4892040" cy="4251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DF1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46304" bIns="109728" anchor="ctr"/>
          <a:lstStyle/>
          <a:p>
            <a:pPr algn="ctr">
              <a:buNone/>
            </a:pPr>
            <a:r>
              <a:rPr sz="1500" b="1">
                <a:solidFill>
                  <a:srgbClr val="F2A53A"/>
                </a:solidFill>
                <a:latin typeface="Arial"/>
                <a:ea typeface="Arial"/>
                <a:cs typeface="Arial"/>
              </a:rPr>
              <a:t>Why posterior matters</a:t>
            </a:r>
          </a:p>
          <a:p>
            <a:pPr>
              <a:spcBef>
                <a:spcPts val="600"/>
              </a:spcBef>
              <a:buNone/>
            </a:pPr>
            <a:r>
              <a:rPr sz="1500">
                <a:solidFill>
                  <a:srgbClr val="3A434D"/>
                </a:solidFill>
                <a:latin typeface="Arial"/>
                <a:ea typeface="Arial"/>
                <a:cs typeface="Arial"/>
              </a:rPr>
              <a:t>A single deterministic estimate can hide diagnostic ambiguity. A posterior can express uncertainty over mechanisms, such as superficial cracking versus deeper structural fatigue.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505C56F-90FB-43DD-A8E1-8C9BAB5CCB65}"/>
              </a:ext>
            </a:extLst>
          </p:cNvPr>
          <p:cNvSpPr>
            <a:spLocks noGrp="1"/>
          </p:cNvSpPr>
          <p:nvPr/>
        </p:nvSpPr>
        <p:spPr>
          <a:xfrm>
            <a:off x="1005840" y="5897880"/>
            <a:ext cx="10058400" cy="32004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ctr">
              <a:buNone/>
            </a:pPr>
            <a:r>
              <a:rPr sz="1200" b="1">
                <a:solidFill>
                  <a:srgbClr val="12304A"/>
                </a:solidFill>
                <a:latin typeface="Arial"/>
                <a:ea typeface="Arial"/>
                <a:cs typeface="Arial"/>
              </a:rPr>
              <a:t>Q&amp;A phrase: “The DT should carry uncertainty forward, because maintenance decisions are risk decisions.”</a:t>
            </a:r>
          </a:p>
        </p:txBody>
      </p:sp>
    </p:spTree>
    <p:extLst>
      <p:ext uri="{BB962C8B-B14F-4D97-AF65-F5344CB8AC3E}">
        <p14:creationId xmlns:p14="http://schemas.microsoft.com/office/powerpoint/2010/main" val="7533756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9D916C3-2C96-458E-BF01-F6D03B1C64E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2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72B676D-6130-4861-A078-C3C3652BBBB7}"/>
              </a:ext>
            </a:extLst>
          </p:cNvPr>
          <p:cNvSpPr>
            <a:spLocks noGrp="1"/>
          </p:cNvSpPr>
          <p:nvPr/>
        </p:nvSpPr>
        <p:spPr>
          <a:xfrm>
            <a:off x="502920" y="310896"/>
            <a:ext cx="10698480" cy="41148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>
              <a:buNone/>
            </a:pPr>
            <a:r>
              <a:rPr sz="2400" b="1">
                <a:solidFill>
                  <a:srgbClr val="12304A"/>
                </a:solidFill>
                <a:latin typeface="Arial"/>
                <a:ea typeface="Arial"/>
                <a:cs typeface="Arial"/>
              </a:rPr>
              <a:t>Backup C. Full method map by physics-injection point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CD594FA-F551-4C64-B336-C787410B69E0}"/>
              </a:ext>
            </a:extLst>
          </p:cNvPr>
          <p:cNvSpPr>
            <a:spLocks noGrp="1"/>
          </p:cNvSpPr>
          <p:nvPr/>
        </p:nvSpPr>
        <p:spPr>
          <a:xfrm>
            <a:off x="530352" y="749808"/>
            <a:ext cx="10607040" cy="32004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>
              <a:buNone/>
            </a:pPr>
            <a:r>
              <a:rPr sz="1200" b="0">
                <a:solidFill>
                  <a:srgbClr val="7C8894"/>
                </a:solidFill>
                <a:latin typeface="Arial"/>
                <a:ea typeface="Arial"/>
                <a:cs typeface="Arial"/>
              </a:rPr>
              <a:t>The taxonomy is intended to guide formulation choice, not to rank one method universally.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D0C7E56-06C2-4227-98CD-EF9CBC248649}"/>
              </a:ext>
            </a:extLst>
          </p:cNvPr>
          <p:cNvSpPr>
            <a:spLocks noGrp="1"/>
          </p:cNvSpPr>
          <p:nvPr/>
        </p:nvSpPr>
        <p:spPr>
          <a:xfrm>
            <a:off x="502920" y="6565392"/>
            <a:ext cx="5486400" cy="164592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>
              <a:buNone/>
            </a:pPr>
            <a:r>
              <a:rPr sz="750" b="0">
                <a:solidFill>
                  <a:srgbClr val="7C8894"/>
                </a:solidFill>
                <a:latin typeface="Arial"/>
                <a:ea typeface="Arial"/>
                <a:cs typeface="Arial"/>
              </a:rPr>
              <a:t>I3CE pre | Paper 454 | 12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475C326-87F3-437D-9E51-D1520E2746E1}"/>
              </a:ext>
            </a:extLst>
          </p:cNvPr>
          <p:cNvSpPr>
            <a:spLocks noGrp="1"/>
          </p:cNvSpPr>
          <p:nvPr/>
        </p:nvSpPr>
        <p:spPr>
          <a:xfrm>
            <a:off x="11292840" y="6565392"/>
            <a:ext cx="411480" cy="164592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r">
              <a:buNone/>
            </a:pPr>
            <a:r>
              <a:rPr sz="750" b="0">
                <a:solidFill>
                  <a:srgbClr val="7C8894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graphicFrame>
        <p:nvGraphicFramePr>
          <p:cNvPr id="15" name="Table 6"/>
          <p:cNvGraphicFramePr/>
          <p:nvPr/>
        </p:nvGraphicFramePr>
        <p:xfrm>
          <a:off x="594360" y="1325880"/>
          <a:ext cx="11018520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83210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Family</a:t>
                      </a:r>
                    </a:p>
                  </a:txBody>
                  <a:tcPr marL="54864" marR="54864">
                    <a:solidFill>
                      <a:srgbClr val="12304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Physics injection</a:t>
                      </a:r>
                    </a:p>
                  </a:txBody>
                  <a:tcPr marL="54864" marR="54864">
                    <a:solidFill>
                      <a:srgbClr val="12304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Strength</a:t>
                      </a:r>
                    </a:p>
                  </a:txBody>
                  <a:tcPr marL="54864" marR="54864">
                    <a:solidFill>
                      <a:srgbClr val="12304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Limitation</a:t>
                      </a:r>
                    </a:p>
                  </a:txBody>
                  <a:tcPr marL="54864" marR="54864">
                    <a:solidFill>
                      <a:srgbClr val="1230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3210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950" b="0">
                          <a:solidFill>
                            <a:srgbClr val="3A434D"/>
                          </a:solidFill>
                          <a:latin typeface="Arial"/>
                          <a:ea typeface="Arial"/>
                          <a:cs typeface="Arial"/>
                        </a:rPr>
                        <a:t>Strong-form PINN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950" b="0">
                          <a:solidFill>
                            <a:srgbClr val="3A434D"/>
                          </a:solidFill>
                          <a:latin typeface="Arial"/>
                          <a:ea typeface="Arial"/>
                          <a:cs typeface="Arial"/>
                        </a:rPr>
                        <a:t>pointwise PDE residual in loss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950" b="0">
                          <a:solidFill>
                            <a:srgbClr val="3A434D"/>
                          </a:solidFill>
                          <a:latin typeface="Arial"/>
                          <a:ea typeface="Arial"/>
                          <a:cs typeface="Arial"/>
                        </a:rPr>
                        <a:t>simple; smooth PDEs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950" b="0">
                          <a:solidFill>
                            <a:srgbClr val="3A434D"/>
                          </a:solidFill>
                          <a:latin typeface="Arial"/>
                          <a:ea typeface="Arial"/>
                          <a:cs typeface="Arial"/>
                        </a:rPr>
                        <a:t>poor near singularities; soft constraints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3210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950" b="0">
                          <a:solidFill>
                            <a:srgbClr val="3A434D"/>
                          </a:solidFill>
                          <a:latin typeface="Arial"/>
                          <a:ea typeface="Arial"/>
                          <a:cs typeface="Arial"/>
                        </a:rPr>
                        <a:t>Variational PINN</a:t>
                      </a:r>
                    </a:p>
                  </a:txBody>
                  <a:tcPr marL="54864" marR="54864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950" b="0">
                          <a:solidFill>
                            <a:srgbClr val="3A434D"/>
                          </a:solidFill>
                          <a:latin typeface="Arial"/>
                          <a:ea typeface="Arial"/>
                          <a:cs typeface="Arial"/>
                        </a:rPr>
                        <a:t>energy minimisation</a:t>
                      </a:r>
                    </a:p>
                  </a:txBody>
                  <a:tcPr marL="54864" marR="54864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950" b="0">
                          <a:solidFill>
                            <a:srgbClr val="3A434D"/>
                          </a:solidFill>
                          <a:latin typeface="Arial"/>
                          <a:ea typeface="Arial"/>
                          <a:cs typeface="Arial"/>
                        </a:rPr>
                        <a:t>global balance; fracture theory</a:t>
                      </a:r>
                    </a:p>
                  </a:txBody>
                  <a:tcPr marL="54864" marR="54864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950" b="0">
                          <a:solidFill>
                            <a:srgbClr val="3A434D"/>
                          </a:solidFill>
                          <a:latin typeface="Arial"/>
                          <a:ea typeface="Arial"/>
                          <a:cs typeface="Arial"/>
                        </a:rPr>
                        <a:t>non-convexity; irreversibility</a:t>
                      </a:r>
                    </a:p>
                  </a:txBody>
                  <a:tcPr marL="54864" marR="54864">
                    <a:solidFill>
                      <a:srgbClr val="F3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3210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950" b="0">
                          <a:solidFill>
                            <a:srgbClr val="3A434D"/>
                          </a:solidFill>
                          <a:latin typeface="Arial"/>
                          <a:ea typeface="Arial"/>
                          <a:cs typeface="Arial"/>
                        </a:rPr>
                        <a:t>Differentiable solver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950" b="0">
                          <a:solidFill>
                            <a:srgbClr val="3A434D"/>
                          </a:solidFill>
                          <a:latin typeface="Arial"/>
                          <a:ea typeface="Arial"/>
                          <a:cs typeface="Arial"/>
                        </a:rPr>
                        <a:t>solver computation graph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950" b="0">
                          <a:solidFill>
                            <a:srgbClr val="3A434D"/>
                          </a:solidFill>
                          <a:latin typeface="Arial"/>
                          <a:ea typeface="Arial"/>
                          <a:cs typeface="Arial"/>
                        </a:rPr>
                        <a:t>hard constraints; gradient-based inversion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950" b="0">
                          <a:solidFill>
                            <a:srgbClr val="3A434D"/>
                          </a:solidFill>
                          <a:latin typeface="Arial"/>
                          <a:ea typeface="Arial"/>
                          <a:cs typeface="Arial"/>
                        </a:rPr>
                        <a:t>implementation and memory cost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3210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950" b="0">
                          <a:solidFill>
                            <a:srgbClr val="3A434D"/>
                          </a:solidFill>
                          <a:latin typeface="Arial"/>
                          <a:ea typeface="Arial"/>
                          <a:cs typeface="Arial"/>
                        </a:rPr>
                        <a:t>Sequential assimilation</a:t>
                      </a:r>
                    </a:p>
                  </a:txBody>
                  <a:tcPr marL="54864" marR="54864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950" b="0">
                          <a:solidFill>
                            <a:srgbClr val="3A434D"/>
                          </a:solidFill>
                          <a:latin typeface="Arial"/>
                          <a:ea typeface="Arial"/>
                          <a:cs typeface="Arial"/>
                        </a:rPr>
                        <a:t>Bayesian update</a:t>
                      </a:r>
                    </a:p>
                  </a:txBody>
                  <a:tcPr marL="54864" marR="54864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950" b="0">
                          <a:solidFill>
                            <a:srgbClr val="3A434D"/>
                          </a:solidFill>
                          <a:latin typeface="Arial"/>
                          <a:ea typeface="Arial"/>
                          <a:cs typeface="Arial"/>
                        </a:rPr>
                        <a:t>online updating; uncertainty-aware</a:t>
                      </a:r>
                    </a:p>
                  </a:txBody>
                  <a:tcPr marL="54864" marR="54864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950" b="0">
                          <a:solidFill>
                            <a:srgbClr val="3A434D"/>
                          </a:solidFill>
                          <a:latin typeface="Arial"/>
                          <a:ea typeface="Arial"/>
                          <a:cs typeface="Arial"/>
                        </a:rPr>
                        <a:t>ensemble approximations for high-dimensional states</a:t>
                      </a:r>
                    </a:p>
                  </a:txBody>
                  <a:tcPr marL="54864" marR="54864">
                    <a:solidFill>
                      <a:srgbClr val="F3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AC2CEF0A-F7E0-428A-A32F-0F4E10AE2981}"/>
              </a:ext>
            </a:extLst>
          </p:cNvPr>
          <p:cNvSpPr>
            <a:spLocks noGrp="1"/>
          </p:cNvSpPr>
          <p:nvPr/>
        </p:nvSpPr>
        <p:spPr>
          <a:xfrm>
            <a:off x="777240" y="5806440"/>
            <a:ext cx="10607040" cy="384048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ctr">
              <a:buNone/>
            </a:pPr>
            <a:r>
              <a:rPr sz="1250" b="1">
                <a:solidFill>
                  <a:srgbClr val="12304A"/>
                </a:solidFill>
                <a:latin typeface="Arial"/>
                <a:ea typeface="Arial"/>
                <a:cs typeface="Arial"/>
              </a:rPr>
              <a:t>Q&amp;A phrase: “Physics-informed learning is a modelling design space, not one algorithm.”</a:t>
            </a:r>
          </a:p>
        </p:txBody>
      </p:sp>
    </p:spTree>
    <p:extLst>
      <p:ext uri="{BB962C8B-B14F-4D97-AF65-F5344CB8AC3E}">
        <p14:creationId xmlns:p14="http://schemas.microsoft.com/office/powerpoint/2010/main" val="3848598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F679623-F412-410B-83BF-01B2191CABC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2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563F102-43AB-4069-B76A-F060CA0F20C7}"/>
              </a:ext>
            </a:extLst>
          </p:cNvPr>
          <p:cNvSpPr>
            <a:spLocks noGrp="1"/>
          </p:cNvSpPr>
          <p:nvPr/>
        </p:nvSpPr>
        <p:spPr>
          <a:xfrm>
            <a:off x="502920" y="310896"/>
            <a:ext cx="10698480" cy="41148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>
              <a:buNone/>
            </a:pPr>
            <a:r>
              <a:rPr sz="2400" b="1">
                <a:solidFill>
                  <a:srgbClr val="12304A"/>
                </a:solidFill>
                <a:latin typeface="Arial"/>
                <a:ea typeface="Arial"/>
                <a:cs typeface="Arial"/>
              </a:rPr>
              <a:t>Backup D. Scope, limitations and next steps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302CE2D-04FB-4380-A01A-51316BCC891D}"/>
              </a:ext>
            </a:extLst>
          </p:cNvPr>
          <p:cNvSpPr>
            <a:spLocks noGrp="1"/>
          </p:cNvSpPr>
          <p:nvPr/>
        </p:nvSpPr>
        <p:spPr>
          <a:xfrm>
            <a:off x="530352" y="749808"/>
            <a:ext cx="10607040" cy="32004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>
              <a:buNone/>
            </a:pPr>
            <a:r>
              <a:rPr sz="1200" b="0">
                <a:solidFill>
                  <a:srgbClr val="7C8894"/>
                </a:solidFill>
                <a:latin typeface="Arial"/>
                <a:ea typeface="Arial"/>
                <a:cs typeface="Arial"/>
              </a:rPr>
              <a:t>This is a conceptual framework supported by preliminary numerical evidence.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813F6EC-8D97-4C23-A12A-DD691C13B515}"/>
              </a:ext>
            </a:extLst>
          </p:cNvPr>
          <p:cNvSpPr>
            <a:spLocks noGrp="1"/>
          </p:cNvSpPr>
          <p:nvPr/>
        </p:nvSpPr>
        <p:spPr>
          <a:xfrm>
            <a:off x="502920" y="6565392"/>
            <a:ext cx="5486400" cy="164592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>
              <a:buNone/>
            </a:pPr>
            <a:r>
              <a:rPr sz="750" b="0">
                <a:solidFill>
                  <a:srgbClr val="7C8894"/>
                </a:solidFill>
                <a:latin typeface="Arial"/>
                <a:ea typeface="Arial"/>
                <a:cs typeface="Arial"/>
              </a:rPr>
              <a:t>I3CE pre | Paper 454 | 13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0110A4C-1AD0-44ED-AE3E-76AC7F6175BB}"/>
              </a:ext>
            </a:extLst>
          </p:cNvPr>
          <p:cNvSpPr>
            <a:spLocks noGrp="1"/>
          </p:cNvSpPr>
          <p:nvPr/>
        </p:nvSpPr>
        <p:spPr>
          <a:xfrm>
            <a:off x="11292840" y="6565392"/>
            <a:ext cx="411480" cy="164592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r">
              <a:buNone/>
            </a:pPr>
            <a:r>
              <a:rPr sz="750" b="0">
                <a:solidFill>
                  <a:srgbClr val="7C8894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8CCF8E8A-CA45-45BE-A1E0-59C1FE598E6D}"/>
              </a:ext>
            </a:extLst>
          </p:cNvPr>
          <p:cNvSpPr>
            <a:spLocks noGrp="1"/>
          </p:cNvSpPr>
          <p:nvPr/>
        </p:nvSpPr>
        <p:spPr>
          <a:xfrm>
            <a:off x="777240" y="1325880"/>
            <a:ext cx="3337560" cy="4160520"/>
          </a:xfrm>
          <a:prstGeom prst="roundRect">
            <a:avLst/>
          </a:prstGeom>
          <a:solidFill>
            <a:srgbClr val="E4EFF9"/>
          </a:solidFill>
          <a:ln w="12700">
            <a:solidFill>
              <a:srgbClr val="2D69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46304" bIns="109728" anchor="ctr"/>
          <a:lstStyle/>
          <a:p>
            <a:pPr algn="ctr">
              <a:buNone/>
            </a:pPr>
            <a:r>
              <a:rPr sz="1500" b="1">
                <a:solidFill>
                  <a:srgbClr val="12304A"/>
                </a:solidFill>
                <a:latin typeface="Arial"/>
                <a:ea typeface="Arial"/>
                <a:cs typeface="Arial"/>
              </a:rPr>
              <a:t>Current scope</a:t>
            </a:r>
          </a:p>
          <a:p>
            <a:pPr>
              <a:spcBef>
                <a:spcPts val="600"/>
              </a:spcBef>
              <a:buNone/>
            </a:pPr>
            <a:r>
              <a:rPr sz="1250">
                <a:solidFill>
                  <a:srgbClr val="3A434D"/>
                </a:solidFill>
                <a:latin typeface="Arial"/>
                <a:ea typeface="Arial"/>
                <a:cs typeface="Arial"/>
              </a:rPr>
              <a:t>• Conceptual closed-loop RDT framework</a:t>
            </a:r>
            <a:br/>
            <a:r>
              <a:rPr sz="1250">
                <a:solidFill>
                  <a:srgbClr val="3A434D"/>
                </a:solidFill>
                <a:latin typeface="Arial"/>
                <a:ea typeface="Arial"/>
                <a:cs typeface="Arial"/>
              </a:rPr>
              <a:t>• M2S inverse-problem framing</a:t>
            </a:r>
            <a:br/>
            <a:r>
              <a:rPr sz="1250">
                <a:solidFill>
                  <a:srgbClr val="3A434D"/>
                </a:solidFill>
                <a:latin typeface="Arial"/>
                <a:ea typeface="Arial"/>
                <a:cs typeface="Arial"/>
              </a:rPr>
              <a:t>• Fracture-learning taxonomy</a:t>
            </a:r>
            <a:br/>
            <a:r>
              <a:rPr sz="1250">
                <a:solidFill>
                  <a:srgbClr val="3A434D"/>
                </a:solidFill>
                <a:latin typeface="Arial"/>
                <a:ea typeface="Arial"/>
                <a:cs typeface="Arial"/>
              </a:rPr>
              <a:t>• Preliminary DRM/FEM comparison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17D79455-7882-4E0B-B658-DFFA9F9A510D}"/>
              </a:ext>
            </a:extLst>
          </p:cNvPr>
          <p:cNvSpPr>
            <a:spLocks noGrp="1"/>
          </p:cNvSpPr>
          <p:nvPr/>
        </p:nvSpPr>
        <p:spPr>
          <a:xfrm>
            <a:off x="4434840" y="1325880"/>
            <a:ext cx="3337560" cy="4160520"/>
          </a:xfrm>
          <a:prstGeom prst="roundRect">
            <a:avLst/>
          </a:prstGeom>
          <a:solidFill>
            <a:srgbClr val="FDF1DE"/>
          </a:solidFill>
          <a:ln w="12700">
            <a:solidFill>
              <a:srgbClr val="F2A5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46304" bIns="109728" anchor="ctr"/>
          <a:lstStyle/>
          <a:p>
            <a:pPr algn="ctr">
              <a:buNone/>
            </a:pPr>
            <a:r>
              <a:rPr sz="1500" b="1">
                <a:solidFill>
                  <a:srgbClr val="12304A"/>
                </a:solidFill>
                <a:latin typeface="Arial"/>
                <a:ea typeface="Arial"/>
                <a:cs typeface="Arial"/>
              </a:rPr>
              <a:t>Limitations</a:t>
            </a:r>
          </a:p>
          <a:p>
            <a:pPr>
              <a:spcBef>
                <a:spcPts val="600"/>
              </a:spcBef>
              <a:buNone/>
            </a:pPr>
            <a:r>
              <a:rPr sz="1250">
                <a:solidFill>
                  <a:srgbClr val="3A434D"/>
                </a:solidFill>
                <a:latin typeface="Arial"/>
                <a:ea typeface="Arial"/>
                <a:cs typeface="Arial"/>
              </a:rPr>
              <a:t>• No field data yet</a:t>
            </a:r>
            <a:br/>
            <a:r>
              <a:rPr sz="1250">
                <a:solidFill>
                  <a:srgbClr val="3A434D"/>
                </a:solidFill>
                <a:latin typeface="Arial"/>
                <a:ea typeface="Arial"/>
                <a:cs typeface="Arial"/>
              </a:rPr>
              <a:t>• Single SENT geometry</a:t>
            </a:r>
            <a:br/>
            <a:r>
              <a:rPr sz="1250">
                <a:solidFill>
                  <a:srgbClr val="3A434D"/>
                </a:solidFill>
                <a:latin typeface="Arial"/>
                <a:ea typeface="Arial"/>
                <a:cs typeface="Arial"/>
              </a:rPr>
              <a:t>• Idealised loading, R = 0</a:t>
            </a:r>
            <a:br/>
            <a:r>
              <a:rPr sz="1250">
                <a:solidFill>
                  <a:srgbClr val="3A434D"/>
                </a:solidFill>
                <a:latin typeface="Arial"/>
                <a:ea typeface="Arial"/>
                <a:cs typeface="Arial"/>
              </a:rPr>
              <a:t>• No network-scale deployment</a:t>
            </a:r>
            <a:br/>
            <a:r>
              <a:rPr sz="1250">
                <a:solidFill>
                  <a:srgbClr val="3A434D"/>
                </a:solidFill>
                <a:latin typeface="Arial"/>
                <a:ea typeface="Arial"/>
                <a:cs typeface="Arial"/>
              </a:rPr>
              <a:t>• Crack-tip under-resolution remains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97536BF2-65E9-45F6-98C6-C62505FF878D}"/>
              </a:ext>
            </a:extLst>
          </p:cNvPr>
          <p:cNvSpPr>
            <a:spLocks noGrp="1"/>
          </p:cNvSpPr>
          <p:nvPr/>
        </p:nvSpPr>
        <p:spPr>
          <a:xfrm>
            <a:off x="8092440" y="1325880"/>
            <a:ext cx="3337560" cy="4160520"/>
          </a:xfrm>
          <a:prstGeom prst="roundRect">
            <a:avLst/>
          </a:prstGeom>
          <a:solidFill>
            <a:srgbClr val="E2F4F1"/>
          </a:solidFill>
          <a:ln w="12700">
            <a:solidFill>
              <a:srgbClr val="1E8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46304" bIns="109728" anchor="ctr"/>
          <a:lstStyle/>
          <a:p>
            <a:pPr algn="ctr">
              <a:buNone/>
            </a:pPr>
            <a:r>
              <a:rPr sz="1500" b="1">
                <a:solidFill>
                  <a:srgbClr val="12304A"/>
                </a:solidFill>
                <a:latin typeface="Arial"/>
                <a:ea typeface="Arial"/>
                <a:cs typeface="Arial"/>
              </a:rPr>
              <a:t>Next steps</a:t>
            </a:r>
          </a:p>
          <a:p>
            <a:pPr>
              <a:spcBef>
                <a:spcPts val="600"/>
              </a:spcBef>
              <a:buNone/>
            </a:pPr>
            <a:r>
              <a:rPr sz="1250">
                <a:solidFill>
                  <a:srgbClr val="3A434D"/>
                </a:solidFill>
                <a:latin typeface="Arial"/>
                <a:ea typeface="Arial"/>
                <a:cs typeface="Arial"/>
              </a:rPr>
              <a:t>• Multi-modal field sensing</a:t>
            </a:r>
            <a:br/>
            <a:r>
              <a:rPr sz="1250">
                <a:solidFill>
                  <a:srgbClr val="3A434D"/>
                </a:solidFill>
                <a:latin typeface="Arial"/>
                <a:ea typeface="Arial"/>
                <a:cs typeface="Arial"/>
              </a:rPr>
              <a:t>• Identifiability analysis</a:t>
            </a:r>
            <a:br/>
            <a:r>
              <a:rPr sz="1250">
                <a:solidFill>
                  <a:srgbClr val="3A434D"/>
                </a:solidFill>
                <a:latin typeface="Arial"/>
                <a:ea typeface="Arial"/>
                <a:cs typeface="Arial"/>
              </a:rPr>
              <a:t>• Differentiable solvers / hybrid surrogates</a:t>
            </a:r>
            <a:br/>
            <a:r>
              <a:rPr sz="1250">
                <a:solidFill>
                  <a:srgbClr val="3A434D"/>
                </a:solidFill>
                <a:latin typeface="Arial"/>
                <a:ea typeface="Arial"/>
                <a:cs typeface="Arial"/>
              </a:rPr>
              <a:t>• Calibrated prediction intervals</a:t>
            </a:r>
            <a:br/>
            <a:r>
              <a:rPr sz="1250">
                <a:solidFill>
                  <a:srgbClr val="3A434D"/>
                </a:solidFill>
                <a:latin typeface="Arial"/>
                <a:ea typeface="Arial"/>
                <a:cs typeface="Arial"/>
              </a:rPr>
              <a:t>• Network-level optimisation</a:t>
            </a:r>
          </a:p>
        </p:txBody>
      </p:sp>
    </p:spTree>
    <p:extLst>
      <p:ext uri="{BB962C8B-B14F-4D97-AF65-F5344CB8AC3E}">
        <p14:creationId xmlns:p14="http://schemas.microsoft.com/office/powerpoint/2010/main" val="16883900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075E546-B530-43D2-AC8C-795567C9B2C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2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20639D3-EA38-4252-94AC-0D3CA4A5C3E5}"/>
              </a:ext>
            </a:extLst>
          </p:cNvPr>
          <p:cNvSpPr>
            <a:spLocks noGrp="1"/>
          </p:cNvSpPr>
          <p:nvPr/>
        </p:nvSpPr>
        <p:spPr>
          <a:xfrm>
            <a:off x="502920" y="310896"/>
            <a:ext cx="10698480" cy="41148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>
              <a:buNone/>
            </a:pPr>
            <a:r>
              <a:rPr sz="2400" b="1">
                <a:solidFill>
                  <a:srgbClr val="12304A"/>
                </a:solidFill>
                <a:latin typeface="Arial"/>
                <a:ea typeface="Arial"/>
                <a:cs typeface="Arial"/>
              </a:rPr>
              <a:t>Backup E. Likely questions and short answers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8752F71-1DF5-4DC5-94A7-64C16C24A040}"/>
              </a:ext>
            </a:extLst>
          </p:cNvPr>
          <p:cNvSpPr>
            <a:spLocks noGrp="1"/>
          </p:cNvSpPr>
          <p:nvPr/>
        </p:nvSpPr>
        <p:spPr>
          <a:xfrm>
            <a:off x="530352" y="749808"/>
            <a:ext cx="10607040" cy="32004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>
              <a:buNone/>
            </a:pPr>
            <a:r>
              <a:rPr sz="1200" b="0">
                <a:solidFill>
                  <a:srgbClr val="7C8894"/>
                </a:solidFill>
                <a:latin typeface="Arial"/>
                <a:ea typeface="Arial"/>
                <a:cs typeface="Arial"/>
              </a:rPr>
              <a:t>Keep answers modest: framework first, validation next.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32778B0-19F9-4C2D-8915-AB33F7BA446B}"/>
              </a:ext>
            </a:extLst>
          </p:cNvPr>
          <p:cNvSpPr>
            <a:spLocks noGrp="1"/>
          </p:cNvSpPr>
          <p:nvPr/>
        </p:nvSpPr>
        <p:spPr>
          <a:xfrm>
            <a:off x="502920" y="6565392"/>
            <a:ext cx="5486400" cy="164592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>
              <a:buNone/>
            </a:pPr>
            <a:r>
              <a:rPr sz="750" b="0">
                <a:solidFill>
                  <a:srgbClr val="7C8894"/>
                </a:solidFill>
                <a:latin typeface="Arial"/>
                <a:ea typeface="Arial"/>
                <a:cs typeface="Arial"/>
              </a:rPr>
              <a:t>I3CE pre | Paper 454 | 14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C490AD0-93A3-4443-9869-C554CB4DD299}"/>
              </a:ext>
            </a:extLst>
          </p:cNvPr>
          <p:cNvSpPr>
            <a:spLocks noGrp="1"/>
          </p:cNvSpPr>
          <p:nvPr/>
        </p:nvSpPr>
        <p:spPr>
          <a:xfrm>
            <a:off x="11292840" y="6565392"/>
            <a:ext cx="411480" cy="164592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r">
              <a:buNone/>
            </a:pPr>
            <a:r>
              <a:rPr sz="750" b="0">
                <a:solidFill>
                  <a:srgbClr val="7C8894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2301F6C5-DEC9-4F38-AF1A-3C1B839EDE01}"/>
              </a:ext>
            </a:extLst>
          </p:cNvPr>
          <p:cNvSpPr>
            <a:spLocks noGrp="1"/>
          </p:cNvSpPr>
          <p:nvPr/>
        </p:nvSpPr>
        <p:spPr>
          <a:xfrm>
            <a:off x="822960" y="1234440"/>
            <a:ext cx="10607040" cy="8503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3F6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46304" bIns="109728" anchor="ctr"/>
          <a:lstStyle/>
          <a:p>
            <a:pPr algn="ctr">
              <a:buNone/>
            </a:pPr>
            <a:r>
              <a:rPr sz="1250" b="1">
                <a:solidFill>
                  <a:srgbClr val="12304A"/>
                </a:solidFill>
                <a:latin typeface="Arial"/>
                <a:ea typeface="Arial"/>
                <a:cs typeface="Arial"/>
              </a:rPr>
              <a:t>Is this different from PMS?</a:t>
            </a:r>
          </a:p>
          <a:p>
            <a:pPr>
              <a:spcBef>
                <a:spcPts val="600"/>
              </a:spcBef>
              <a:buNone/>
            </a:pPr>
            <a:r>
              <a:rPr sz="1050">
                <a:solidFill>
                  <a:srgbClr val="3A434D"/>
                </a:solidFill>
                <a:latin typeface="Arial"/>
                <a:ea typeface="Arial"/>
                <a:cs typeface="Arial"/>
              </a:rPr>
              <a:t>Yes. PMS often plans from condition indicators; this work targets the missing inference layer from observations to latent mechanical state.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6DF30F95-6D22-41AD-9F1D-C09ED1B1CEA5}"/>
              </a:ext>
            </a:extLst>
          </p:cNvPr>
          <p:cNvSpPr>
            <a:spLocks noGrp="1"/>
          </p:cNvSpPr>
          <p:nvPr/>
        </p:nvSpPr>
        <p:spPr>
          <a:xfrm>
            <a:off x="822960" y="2377440"/>
            <a:ext cx="10607040" cy="8503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3F6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46304" bIns="109728" anchor="ctr"/>
          <a:lstStyle/>
          <a:p>
            <a:pPr algn="ctr">
              <a:buNone/>
            </a:pPr>
            <a:r>
              <a:rPr sz="1250" b="1">
                <a:solidFill>
                  <a:srgbClr val="12304A"/>
                </a:solidFill>
                <a:latin typeface="Arial"/>
                <a:ea typeface="Arial"/>
                <a:cs typeface="Arial"/>
              </a:rPr>
              <a:t>Do you have field data?</a:t>
            </a:r>
          </a:p>
          <a:p>
            <a:pPr>
              <a:spcBef>
                <a:spcPts val="600"/>
              </a:spcBef>
              <a:buNone/>
            </a:pPr>
            <a:r>
              <a:rPr sz="1050">
                <a:solidFill>
                  <a:srgbClr val="3A434D"/>
                </a:solidFill>
                <a:latin typeface="Arial"/>
                <a:ea typeface="Arial"/>
                <a:cs typeface="Arial"/>
              </a:rPr>
              <a:t>Not in this paper. The next step is multi-modal field data: surface sensing + FWD/TSD + GPR.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D0C7392B-757D-4792-88C8-A1292DFCD657}"/>
              </a:ext>
            </a:extLst>
          </p:cNvPr>
          <p:cNvSpPr>
            <a:spLocks noGrp="1"/>
          </p:cNvSpPr>
          <p:nvPr/>
        </p:nvSpPr>
        <p:spPr>
          <a:xfrm>
            <a:off x="822960" y="3520440"/>
            <a:ext cx="10607040" cy="8503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3F6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46304" bIns="109728" anchor="ctr"/>
          <a:lstStyle/>
          <a:p>
            <a:pPr algn="ctr">
              <a:buNone/>
            </a:pPr>
            <a:r>
              <a:rPr sz="1250" b="1">
                <a:solidFill>
                  <a:srgbClr val="12304A"/>
                </a:solidFill>
                <a:latin typeface="Arial"/>
                <a:ea typeface="Arial"/>
                <a:cs typeface="Arial"/>
              </a:rPr>
              <a:t>Why not standard PINNs?</a:t>
            </a:r>
          </a:p>
          <a:p>
            <a:pPr>
              <a:spcBef>
                <a:spcPts val="600"/>
              </a:spcBef>
              <a:buNone/>
            </a:pPr>
            <a:r>
              <a:rPr sz="1050">
                <a:solidFill>
                  <a:srgbClr val="3A434D"/>
                </a:solidFill>
                <a:latin typeface="Arial"/>
                <a:ea typeface="Arial"/>
                <a:cs typeface="Arial"/>
              </a:rPr>
              <a:t>Fracture has discontinuities, singularities, irreversibility and non-convex energy; residual-only learning is not enough.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08CDF7C0-8DB8-4EBF-B0F2-DD9CF631FFA0}"/>
              </a:ext>
            </a:extLst>
          </p:cNvPr>
          <p:cNvSpPr>
            <a:spLocks noGrp="1"/>
          </p:cNvSpPr>
          <p:nvPr/>
        </p:nvSpPr>
        <p:spPr>
          <a:xfrm>
            <a:off x="822960" y="4663440"/>
            <a:ext cx="10607040" cy="8503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3F6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46304" bIns="109728" anchor="ctr"/>
          <a:lstStyle/>
          <a:p>
            <a:pPr algn="ctr">
              <a:buNone/>
            </a:pPr>
            <a:r>
              <a:rPr sz="1250" b="1">
                <a:solidFill>
                  <a:srgbClr val="12304A"/>
                </a:solidFill>
                <a:latin typeface="Arial"/>
                <a:ea typeface="Arial"/>
                <a:cs typeface="Arial"/>
              </a:rPr>
              <a:t>Is DRM fully validated?</a:t>
            </a:r>
          </a:p>
          <a:p>
            <a:pPr>
              <a:spcBef>
                <a:spcPts val="600"/>
              </a:spcBef>
              <a:buNone/>
            </a:pPr>
            <a:r>
              <a:rPr sz="1050">
                <a:solidFill>
                  <a:srgbClr val="3A434D"/>
                </a:solidFill>
                <a:latin typeface="Arial"/>
                <a:ea typeface="Arial"/>
                <a:cs typeface="Arial"/>
              </a:rPr>
              <a:t>No. It is preliminary evidence showing the value and limitation of energy-based physics injection.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3C4CF18-7162-99BB-CCDC-A3D1003433D6}"/>
              </a:ext>
            </a:extLst>
          </p:cNvPr>
          <p:cNvSpPr>
            <a:spLocks noGrp="1"/>
          </p:cNvSpPr>
          <p:nvPr/>
        </p:nvSpPr>
        <p:spPr>
          <a:xfrm>
            <a:off x="7635240" y="3703320"/>
            <a:ext cx="3886200" cy="475488"/>
          </a:xfrm>
          <a:prstGeom prst="rect">
            <a:avLst/>
          </a:prstGeom>
          <a:solidFill>
            <a:srgbClr val="F3F6F9"/>
          </a:solidFill>
          <a:ln>
            <a:solidFill>
              <a:srgbClr val="7C88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88AEB73-AFB4-DD7C-FA2F-A948840CBF88}"/>
              </a:ext>
            </a:extLst>
          </p:cNvPr>
          <p:cNvSpPr>
            <a:spLocks noGrp="1"/>
          </p:cNvSpPr>
          <p:nvPr/>
        </p:nvSpPr>
        <p:spPr>
          <a:xfrm>
            <a:off x="7635240" y="4187952"/>
            <a:ext cx="3886200" cy="749808"/>
          </a:xfrm>
          <a:prstGeom prst="rect">
            <a:avLst/>
          </a:prstGeom>
          <a:solidFill>
            <a:srgbClr val="ECE7DC"/>
          </a:solidFill>
          <a:ln>
            <a:solidFill>
              <a:srgbClr val="7C88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3" name="Connector 10">
            <a:extLst>
              <a:ext uri="{FF2B5EF4-FFF2-40B4-BE49-F238E27FC236}">
                <a16:creationId xmlns:a16="http://schemas.microsoft.com/office/drawing/2014/main" id="{EB53BA7C-9FAE-4EF8-9A0D-49FB0FFAC27A}"/>
              </a:ext>
            </a:extLst>
          </p:cNvPr>
          <p:cNvSpPr>
            <a:spLocks noGrp="1"/>
          </p:cNvSpPr>
          <p:nvPr/>
        </p:nvSpPr>
        <p:spPr>
          <a:xfrm flipH="1">
            <a:off x="9281160" y="3703320"/>
            <a:ext cx="137160" cy="274319"/>
          </a:xfrm>
          <a:prstGeom prst="line">
            <a:avLst/>
          </a:prstGeom>
          <a:ln w="25400">
            <a:solidFill>
              <a:srgbClr val="B750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  <p:sp>
        <p:nvSpPr>
          <p:cNvPr id="14" name="Connector 11">
            <a:extLst>
              <a:ext uri="{FF2B5EF4-FFF2-40B4-BE49-F238E27FC236}">
                <a16:creationId xmlns:a16="http://schemas.microsoft.com/office/drawing/2014/main" id="{B8B2B40F-C313-4416-9A10-46806A2EBE94}"/>
              </a:ext>
            </a:extLst>
          </p:cNvPr>
          <p:cNvSpPr>
            <a:spLocks noGrp="1"/>
          </p:cNvSpPr>
          <p:nvPr/>
        </p:nvSpPr>
        <p:spPr>
          <a:xfrm>
            <a:off x="9281160" y="3977639"/>
            <a:ext cx="182880" cy="265177"/>
          </a:xfrm>
          <a:prstGeom prst="line">
            <a:avLst/>
          </a:prstGeom>
          <a:ln w="25400">
            <a:solidFill>
              <a:srgbClr val="B750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  <p:sp>
        <p:nvSpPr>
          <p:cNvPr id="15" name="Connector 12">
            <a:extLst>
              <a:ext uri="{FF2B5EF4-FFF2-40B4-BE49-F238E27FC236}">
                <a16:creationId xmlns:a16="http://schemas.microsoft.com/office/drawing/2014/main" id="{0CC8B604-5892-412D-BB7E-0D05BB4322C2}"/>
              </a:ext>
            </a:extLst>
          </p:cNvPr>
          <p:cNvSpPr>
            <a:spLocks noGrp="1"/>
          </p:cNvSpPr>
          <p:nvPr/>
        </p:nvSpPr>
        <p:spPr>
          <a:xfrm flipH="1">
            <a:off x="9326880" y="4242816"/>
            <a:ext cx="137160" cy="310896"/>
          </a:xfrm>
          <a:prstGeom prst="line">
            <a:avLst/>
          </a:prstGeom>
          <a:ln w="25400">
            <a:solidFill>
              <a:srgbClr val="B750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  <p:sp>
        <p:nvSpPr>
          <p:cNvPr id="16" name="Connector 13">
            <a:extLst>
              <a:ext uri="{FF2B5EF4-FFF2-40B4-BE49-F238E27FC236}">
                <a16:creationId xmlns:a16="http://schemas.microsoft.com/office/drawing/2014/main" id="{FF7C81F2-F60A-4188-B3FF-80159FB26B04}"/>
              </a:ext>
            </a:extLst>
          </p:cNvPr>
          <p:cNvSpPr>
            <a:spLocks noGrp="1"/>
          </p:cNvSpPr>
          <p:nvPr/>
        </p:nvSpPr>
        <p:spPr>
          <a:xfrm>
            <a:off x="9326880" y="4553712"/>
            <a:ext cx="201168" cy="338328"/>
          </a:xfrm>
          <a:prstGeom prst="line">
            <a:avLst/>
          </a:prstGeom>
          <a:ln w="25400">
            <a:solidFill>
              <a:srgbClr val="B750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870C7AF-AD83-BCF8-BA6D-18346BA2EC6E}"/>
              </a:ext>
            </a:extLst>
          </p:cNvPr>
          <p:cNvSpPr>
            <a:spLocks noGrp="1"/>
          </p:cNvSpPr>
          <p:nvPr/>
        </p:nvSpPr>
        <p:spPr>
          <a:xfrm>
            <a:off x="7406640" y="5212080"/>
            <a:ext cx="4389120" cy="32004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ctr">
              <a:buNone/>
            </a:pPr>
            <a:r>
              <a:rPr sz="1200" b="1">
                <a:solidFill>
                  <a:srgbClr val="1E8A8A"/>
                </a:solidFill>
                <a:latin typeface="Arial"/>
                <a:ea typeface="Arial"/>
                <a:cs typeface="Arial"/>
              </a:rPr>
              <a:t>Surface observations → hidden fracture state</a:t>
            </a:r>
          </a:p>
        </p:txBody>
      </p:sp>
      <p:sp>
        <p:nvSpPr>
          <p:cNvPr id="18" name="visual-enhancement-mask">
            <a:extLst>
              <a:ext uri="{FF2B5EF4-FFF2-40B4-BE49-F238E27FC236}">
                <a16:creationId xmlns:a16="http://schemas.microsoft.com/office/drawing/2014/main" id="{4772CEDD-E4AA-4A12-81D9-BDD2F3A61C82}"/>
              </a:ext>
            </a:extLst>
          </p:cNvPr>
          <p:cNvSpPr>
            <a:spLocks noGrp="1"/>
          </p:cNvSpPr>
          <p:nvPr/>
        </p:nvSpPr>
        <p:spPr>
          <a:xfrm>
            <a:off x="666750" y="3390900"/>
            <a:ext cx="10934700" cy="234315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visual-enhancement-panel">
            <a:extLst>
              <a:ext uri="{FF2B5EF4-FFF2-40B4-BE49-F238E27FC236}">
                <a16:creationId xmlns:a16="http://schemas.microsoft.com/office/drawing/2014/main" id="{1BB6D818-1D3C-48B1-B930-E1B321A0168D}"/>
              </a:ext>
            </a:extLst>
          </p:cNvPr>
          <p:cNvSpPr>
            <a:spLocks noGrp="1"/>
          </p:cNvSpPr>
          <p:nvPr/>
        </p:nvSpPr>
        <p:spPr>
          <a:xfrm>
            <a:off x="819150" y="3524250"/>
            <a:ext cx="10610850" cy="847725"/>
          </a:xfrm>
          <a:prstGeom prst="roundRect">
            <a:avLst>
              <a:gd name="adj" fmla="val 17978"/>
            </a:avLst>
          </a:prstGeom>
          <a:solidFill>
            <a:srgbClr val="FFFFFF"/>
          </a:solidFill>
          <a:ln w="11430">
            <a:solidFill>
              <a:srgbClr val="E5E7EB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20" name="visual-enhancement-text">
            <a:extLst>
              <a:ext uri="{FF2B5EF4-FFF2-40B4-BE49-F238E27FC236}">
                <a16:creationId xmlns:a16="http://schemas.microsoft.com/office/drawing/2014/main" id="{7DD5BB04-2D79-4601-8115-2E565DDD5F6E}"/>
              </a:ext>
            </a:extLst>
          </p:cNvPr>
          <p:cNvSpPr>
            <a:spLocks noGrp="1"/>
          </p:cNvSpPr>
          <p:nvPr/>
        </p:nvSpPr>
        <p:spPr>
          <a:xfrm>
            <a:off x="1104900" y="3705225"/>
            <a:ext cx="100393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1">
                <a:solidFill>
                  <a:srgbClr val="12324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2324A"/>
                </a:solidFill>
                <a:latin typeface="Aptos"/>
                <a:ea typeface="Aptos"/>
                <a:cs typeface="Aptos"/>
              </a:rPr>
              <a:t>Why not standard PINNs?</a:t>
            </a:r>
          </a:p>
        </p:txBody>
      </p:sp>
      <p:sp>
        <p:nvSpPr>
          <p:cNvPr id="21" name="visual-enhancement-text">
            <a:extLst>
              <a:ext uri="{FF2B5EF4-FFF2-40B4-BE49-F238E27FC236}">
                <a16:creationId xmlns:a16="http://schemas.microsoft.com/office/drawing/2014/main" id="{6524EE63-D5B6-4D8F-ACF5-07219557B8D1}"/>
              </a:ext>
            </a:extLst>
          </p:cNvPr>
          <p:cNvSpPr>
            <a:spLocks noGrp="1"/>
          </p:cNvSpPr>
          <p:nvPr/>
        </p:nvSpPr>
        <p:spPr>
          <a:xfrm>
            <a:off x="1009650" y="4010025"/>
            <a:ext cx="102298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344054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344054"/>
                </a:solidFill>
                <a:latin typeface="Aptos"/>
                <a:ea typeface="Aptos"/>
                <a:cs typeface="Aptos"/>
              </a:rPr>
              <a:t>Fracture has discontinuities, singularities, irreversibility and non-convex energy; residual-only learning is not enough.</a:t>
            </a:r>
          </a:p>
        </p:txBody>
      </p:sp>
      <p:sp>
        <p:nvSpPr>
          <p:cNvPr id="22" name="visual-enhancement-panel">
            <a:extLst>
              <a:ext uri="{FF2B5EF4-FFF2-40B4-BE49-F238E27FC236}">
                <a16:creationId xmlns:a16="http://schemas.microsoft.com/office/drawing/2014/main" id="{2665B276-DD67-4335-827E-F0963647B3BE}"/>
              </a:ext>
            </a:extLst>
          </p:cNvPr>
          <p:cNvSpPr>
            <a:spLocks noGrp="1"/>
          </p:cNvSpPr>
          <p:nvPr/>
        </p:nvSpPr>
        <p:spPr>
          <a:xfrm>
            <a:off x="819150" y="4667250"/>
            <a:ext cx="10610850" cy="847725"/>
          </a:xfrm>
          <a:prstGeom prst="roundRect">
            <a:avLst>
              <a:gd name="adj" fmla="val 17978"/>
            </a:avLst>
          </a:prstGeom>
          <a:solidFill>
            <a:srgbClr val="FFFFFF"/>
          </a:solidFill>
          <a:ln w="11430">
            <a:solidFill>
              <a:srgbClr val="E5E7EB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23" name="visual-enhancement-text">
            <a:extLst>
              <a:ext uri="{FF2B5EF4-FFF2-40B4-BE49-F238E27FC236}">
                <a16:creationId xmlns:a16="http://schemas.microsoft.com/office/drawing/2014/main" id="{E9A62CCA-73D1-4882-8187-E5F10BF70156}"/>
              </a:ext>
            </a:extLst>
          </p:cNvPr>
          <p:cNvSpPr>
            <a:spLocks noGrp="1"/>
          </p:cNvSpPr>
          <p:nvPr/>
        </p:nvSpPr>
        <p:spPr>
          <a:xfrm>
            <a:off x="1104900" y="4848225"/>
            <a:ext cx="100393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1">
                <a:solidFill>
                  <a:srgbClr val="12324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2324A"/>
                </a:solidFill>
                <a:latin typeface="Aptos"/>
                <a:ea typeface="Aptos"/>
                <a:cs typeface="Aptos"/>
              </a:rPr>
              <a:t>Is DRM fully validated?</a:t>
            </a:r>
          </a:p>
        </p:txBody>
      </p:sp>
      <p:sp>
        <p:nvSpPr>
          <p:cNvPr id="24" name="visual-enhancement-text">
            <a:extLst>
              <a:ext uri="{FF2B5EF4-FFF2-40B4-BE49-F238E27FC236}">
                <a16:creationId xmlns:a16="http://schemas.microsoft.com/office/drawing/2014/main" id="{33F6F4B4-60D8-4B94-BC70-F114B7F25A25}"/>
              </a:ext>
            </a:extLst>
          </p:cNvPr>
          <p:cNvSpPr>
            <a:spLocks noGrp="1"/>
          </p:cNvSpPr>
          <p:nvPr/>
        </p:nvSpPr>
        <p:spPr>
          <a:xfrm>
            <a:off x="1009650" y="5153025"/>
            <a:ext cx="102298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344054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344054"/>
                </a:solidFill>
                <a:latin typeface="Aptos"/>
                <a:ea typeface="Aptos"/>
                <a:cs typeface="Aptos"/>
              </a:rPr>
              <a:t>No. It is preliminary evidence showing the value and limitation of energy-based physics injection.</a:t>
            </a:r>
          </a:p>
        </p:txBody>
      </p:sp>
    </p:spTree>
    <p:extLst>
      <p:ext uri="{BB962C8B-B14F-4D97-AF65-F5344CB8AC3E}">
        <p14:creationId xmlns:p14="http://schemas.microsoft.com/office/powerpoint/2010/main" val="3268766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1477</Words>
  <Application>Microsoft Macintosh PowerPoint</Application>
  <DocSecurity>0</DocSecurity>
  <PresentationFormat>Widescreen</PresentationFormat>
  <Paragraphs>226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Xiaofang Wen</cp:lastModifiedBy>
  <cp:revision>1</cp:revision>
  <dcterms:created xsi:type="dcterms:W3CDTF">2026-06-15T09:41:57Z</dcterms:created>
  <dcterms:modified xsi:type="dcterms:W3CDTF">2026-06-15T14:40:49Z</dcterms:modified>
</cp:coreProperties>
</file>